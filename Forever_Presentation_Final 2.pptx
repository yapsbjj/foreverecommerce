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9" r:id="rId11"/>
    <p:sldId id="273" r:id="rId12"/>
    <p:sldId id="270" r:id="rId13"/>
    <p:sldId id="271" r:id="rId14"/>
    <p:sldId id="284" r:id="rId15"/>
    <p:sldId id="264" r:id="rId16"/>
    <p:sldId id="282" r:id="rId17"/>
    <p:sldId id="280" r:id="rId18"/>
    <p:sldId id="265" r:id="rId19"/>
    <p:sldId id="283" r:id="rId20"/>
    <p:sldId id="266" r:id="rId21"/>
    <p:sldId id="267" r:id="rId22"/>
    <p:sldId id="272" r:id="rId23"/>
    <p:sldId id="274" r:id="rId24"/>
    <p:sldId id="275" r:id="rId25"/>
    <p:sldId id="276" r:id="rId26"/>
    <p:sldId id="277" r:id="rId27"/>
    <p:sldId id="278" r:id="rId28"/>
    <p:sldId id="279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8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4072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D06E8-7E13-388A-8945-E4FE79AE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BD360-817F-84FA-52F5-E4C2AF7A1A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32FBDE-03A4-06A3-3D6C-BB82DD0B89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ACE14-3A4F-BD2B-F734-C5A0DE000C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502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DDCE9-2E41-70D2-0FE4-4143A6473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C84DC-D1F5-E51C-7401-428EF8F24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D48D22-13C1-D4DA-36ED-9E99A8FDA2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906CD-756C-4AA8-AD47-3C6A69E22D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0259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84D3-CB97-7591-EFE3-F78E8542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980CE-0480-C932-11DD-15D68A9BB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E863CD-93C1-4BE5-1339-35E20ED0D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EF715-A9F6-F408-0268-28FABD7D3B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9055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3F88D-E54D-7D43-BC4E-54C48AFE2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A0092-A771-A574-F96F-FB914752C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14BCFA-86C2-E7B9-7FF5-166E8E7EF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3E369-1E1F-E9C5-4B11-222E681C85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5813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jp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253D6E"/>
          </a:solidFill>
          <a:ln w="12700">
            <a:solidFill>
              <a:srgbClr val="25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3200400"/>
            <a:ext cx="2286000" cy="2286000"/>
          </a:xfrm>
          <a:prstGeom prst="ellipse">
            <a:avLst/>
          </a:prstGeom>
          <a:solidFill>
            <a:srgbClr val="253D6E"/>
          </a:solidFill>
          <a:ln w="12700">
            <a:solidFill>
              <a:srgbClr val="253D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315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kern="0" spc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FOREVER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E-Commerce Full-Stack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1828800" cy="347472"/>
          </a:xfrm>
          <a:prstGeom prst="roundRect">
            <a:avLst>
              <a:gd name="adj" fmla="val 21053"/>
            </a:avLst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468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2468880"/>
            <a:ext cx="1828800" cy="347472"/>
          </a:xfrm>
          <a:prstGeom prst="roundRect">
            <a:avLst>
              <a:gd name="adj" fmla="val 21053"/>
            </a:avLst>
          </a:prstGeom>
          <a:solidFill>
            <a:srgbClr val="64748B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2468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2468880"/>
            <a:ext cx="1828800" cy="347472"/>
          </a:xfrm>
          <a:prstGeom prst="roundRect">
            <a:avLst>
              <a:gd name="adj" fmla="val 21053"/>
            </a:avLst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468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2468880"/>
            <a:ext cx="1828800" cy="347472"/>
          </a:xfrm>
          <a:prstGeom prst="roundRect">
            <a:avLst>
              <a:gd name="adj" fmla="val 21053"/>
            </a:avLst>
          </a:prstGeom>
          <a:solidFill>
            <a:srgbClr val="65A30D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468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8046720" cy="18288"/>
          </a:xfrm>
          <a:prstGeom prst="rect">
            <a:avLst/>
          </a:prstGeom>
          <a:solidFill>
            <a:srgbClr val="3D5A99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 Professionnel — Développeur Web et Web Mobile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Yassine RAMDANE  •  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3444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73152" cy="65836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344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78992" y="123444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personnelle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057400"/>
            <a:ext cx="73152" cy="65836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" y="20574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78992" y="20574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Forever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880360"/>
            <a:ext cx="73152" cy="65836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28803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78992" y="288036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de la stack MERN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370332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703320"/>
            <a:ext cx="73152" cy="65836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370332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78992" y="37033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Versionning — Git &amp; GitHub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23444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1234440"/>
            <a:ext cx="73152" cy="65836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5010912" y="12344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559552" y="123444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de la base de données (MERISE)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205740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2057400"/>
            <a:ext cx="73152" cy="65836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7" name="Text 25"/>
          <p:cNvSpPr/>
          <p:nvPr/>
        </p:nvSpPr>
        <p:spPr>
          <a:xfrm>
            <a:off x="5010912" y="20574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559552" y="20574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rouge — Du panier au paiement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846320" y="288036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2880360"/>
            <a:ext cx="73152" cy="65836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1" name="Text 29"/>
          <p:cNvSpPr/>
          <p:nvPr/>
        </p:nvSpPr>
        <p:spPr>
          <a:xfrm>
            <a:off x="5010912" y="28803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59552" y="288036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rouge — Authentification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Présentation personnelle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34440"/>
            <a:ext cx="8412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234440"/>
            <a:ext cx="8412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compléter</a:t>
            </a:r>
            <a:endParaRPr lang="en-US" sz="18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855273C-863D-F148-4C8B-AD99DC52F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3943" y="2853263"/>
            <a:ext cx="1512997" cy="1512997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713A0F6-E34A-3BC2-AAF9-5EEFCDCB00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287" y="3011837"/>
            <a:ext cx="1695450" cy="1643397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67E9A2F7-CDE0-B072-6007-5CFB2739DD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2980" y="2291879"/>
            <a:ext cx="1800061" cy="1800061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6DD0EAC3-6A6D-AE5A-0505-7BA0870765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9274" y="1325880"/>
            <a:ext cx="1554263" cy="1800061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390B1F9D-9A34-64EE-3672-09815EC6A3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2156" y="3148762"/>
            <a:ext cx="2028497" cy="56598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A7213D0-DD70-9EA9-5234-FEED1FAE58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6374" y="3670500"/>
            <a:ext cx="1800060" cy="900030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4478EBB-346C-5479-C534-1222854FFD2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461" y="2381266"/>
            <a:ext cx="1378843" cy="541184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D640C245-8328-5923-EF8E-7E7254CE5DD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797955">
            <a:off x="753437" y="3221599"/>
            <a:ext cx="872892" cy="7494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Le Projet Forever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objectifs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34440"/>
            <a:ext cx="5303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34440"/>
            <a:ext cx="73152" cy="1371600"/>
          </a:xfrm>
          <a:prstGeom prst="rect">
            <a:avLst/>
          </a:prstGeom>
          <a:solidFill>
            <a:srgbClr val="E8500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9844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contexte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Forever est une boutique de vêtements qui a besoin d'un site e-commerce pour développer ses ventes en ligne et toucher une clientèle plus large.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788920"/>
            <a:ext cx="5303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788920"/>
            <a:ext cx="73152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85292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18211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d'une application web complète : boutique en ligne, espace client et panel d'administration, le tout connecté à une API REST sécurisée.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89320" y="1234440"/>
            <a:ext cx="2697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34440"/>
            <a:ext cx="73152" cy="10058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Client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72200" y="1600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89320" y="2404872"/>
            <a:ext cx="2697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89320" y="2404872"/>
            <a:ext cx="73152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Backend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72200" y="2770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89320" y="3575304"/>
            <a:ext cx="2697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89320" y="3575304"/>
            <a:ext cx="73152" cy="1005840"/>
          </a:xfrm>
          <a:prstGeom prst="rect">
            <a:avLst/>
          </a:prstGeom>
          <a:solidFill>
            <a:srgbClr val="E8500A"/>
          </a:solidFill>
          <a:ln/>
        </p:spPr>
      </p:sp>
      <p:sp>
        <p:nvSpPr>
          <p:cNvPr id="24" name="Text 22"/>
          <p:cNvSpPr/>
          <p:nvPr/>
        </p:nvSpPr>
        <p:spPr>
          <a:xfrm>
            <a:off x="6172200" y="36393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72200" y="39410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Choix de la Stack MERN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 choix technologique 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34440"/>
            <a:ext cx="4206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27048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70432" y="1362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70432" y="1691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10312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orientée documents, parfaite pour les données e-commerce variables (produits, commandes). Hébergée sur Atlas.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90088"/>
            <a:ext cx="4206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82696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70432" y="311810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170432" y="34472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backend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48640" y="385876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Léger et flexible pour construire une API REST structurée. Gestion claire des routes et des middlewares.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846320" y="1234440"/>
            <a:ext cx="4206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527048"/>
            <a:ext cx="502920" cy="5029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650992" y="1362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5650992" y="1691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utilisateur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5029200" y="210312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dynamique et réactive. Context API pour l'état global (panier, auth). Composants réutilisables.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846320" y="2990088"/>
            <a:ext cx="4206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282696"/>
            <a:ext cx="502920" cy="5029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50992" y="311810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5650992" y="34472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runtime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0" y="385876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côté serveur. Cohérence du langage sur toute la stack. Modèle asynchrone adapté au web.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Versionning avec Git &amp; GitHub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code source et collaboration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34440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Contrôle de version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08483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l'historique de chaque modification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261518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en arrière possible à tout moment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314553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pour développer sans risque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48640" y="36758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utilisées : git init, git add, git commit, git push, git pull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54880" y="1234440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41732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71500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— Hébergement distant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937760" y="208483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dépôts séparés : Backend, Frontend, Admin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4937760" y="261518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sauvegardé et accessible depuis partout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937760" y="314553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complet des commits visible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937760" y="36758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 des repos : github.com/yapsbjj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365760" y="4617720"/>
            <a:ext cx="1920240" cy="347472"/>
          </a:xfrm>
          <a:prstGeom prst="roundRect">
            <a:avLst>
              <a:gd name="adj" fmla="val 15789"/>
            </a:avLst>
          </a:prstGeom>
          <a:solidFill>
            <a:srgbClr val="1F3864"/>
          </a:solidFill>
          <a:ln/>
        </p:spPr>
      </p:sp>
      <p:sp>
        <p:nvSpPr>
          <p:cNvPr id="21" name="Text 17"/>
          <p:cNvSpPr/>
          <p:nvPr/>
        </p:nvSpPr>
        <p:spPr>
          <a:xfrm>
            <a:off x="365760" y="4617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init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2286000" y="461772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75B6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7720"/>
            <a:ext cx="1920240" cy="347472"/>
          </a:xfrm>
          <a:prstGeom prst="roundRect">
            <a:avLst>
              <a:gd name="adj" fmla="val 15789"/>
            </a:avLst>
          </a:prstGeom>
          <a:solidFill>
            <a:srgbClr val="1F3864"/>
          </a:solidFill>
          <a:ln/>
        </p:spPr>
      </p:sp>
      <p:sp>
        <p:nvSpPr>
          <p:cNvPr id="24" name="Text 20"/>
          <p:cNvSpPr/>
          <p:nvPr/>
        </p:nvSpPr>
        <p:spPr>
          <a:xfrm>
            <a:off x="2514600" y="4617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4434840" y="461772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75B6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4663440" y="4617720"/>
            <a:ext cx="1920240" cy="347472"/>
          </a:xfrm>
          <a:prstGeom prst="roundRect">
            <a:avLst>
              <a:gd name="adj" fmla="val 15789"/>
            </a:avLst>
          </a:prstGeom>
          <a:solidFill>
            <a:srgbClr val="1F3864"/>
          </a:solidFill>
          <a:ln/>
        </p:spPr>
      </p:sp>
      <p:sp>
        <p:nvSpPr>
          <p:cNvPr id="27" name="Text 23"/>
          <p:cNvSpPr/>
          <p:nvPr/>
        </p:nvSpPr>
        <p:spPr>
          <a:xfrm>
            <a:off x="4663440" y="4617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"..."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6583680" y="461772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75B6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6812280" y="4617720"/>
            <a:ext cx="1920240" cy="347472"/>
          </a:xfrm>
          <a:prstGeom prst="roundRect">
            <a:avLst>
              <a:gd name="adj" fmla="val 15789"/>
            </a:avLst>
          </a:prstGeom>
          <a:solidFill>
            <a:srgbClr val="1F3864"/>
          </a:solidFill>
          <a:ln/>
        </p:spPr>
      </p:sp>
      <p:sp>
        <p:nvSpPr>
          <p:cNvPr id="30" name="Text 26"/>
          <p:cNvSpPr/>
          <p:nvPr/>
        </p:nvSpPr>
        <p:spPr>
          <a:xfrm>
            <a:off x="6812280" y="46177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Conception BDD — Modèle Conceptuel (MCD)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MERISE — Entités et relations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234440"/>
            <a:ext cx="2194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34440"/>
            <a:ext cx="2194560" cy="384048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234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733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_id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19110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(unique)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38658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(hash)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26243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cartData {}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74720" y="1234440"/>
            <a:ext cx="21945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74720" y="1234440"/>
            <a:ext cx="2194560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1234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16733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_id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66160" y="19110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6616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566160" y="238658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66160" y="26243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[]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66160" y="28620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566160" y="309981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subCategory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566160" y="3337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sizes []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66160" y="357530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bestseller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75120" y="1234440"/>
            <a:ext cx="21945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75120" y="1234440"/>
            <a:ext cx="2194560" cy="384048"/>
          </a:xfrm>
          <a:prstGeom prst="rect">
            <a:avLst/>
          </a:prstGeom>
          <a:solidFill>
            <a:srgbClr val="E8500A"/>
          </a:solidFill>
          <a:ln/>
        </p:spPr>
      </p:sp>
      <p:sp>
        <p:nvSpPr>
          <p:cNvPr id="28" name="Text 26"/>
          <p:cNvSpPr/>
          <p:nvPr/>
        </p:nvSpPr>
        <p:spPr>
          <a:xfrm>
            <a:off x="6675120" y="1234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0" y="16733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_id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66560" y="19110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(FK)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6656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[]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766560" y="238658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766560" y="26243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 {}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66560" y="28620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766560" y="309981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paymentMethod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766560" y="3337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(bool)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766560" y="357530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68880" y="2240280"/>
            <a:ext cx="502920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2084832"/>
            <a:ext cx="502920" cy="320040"/>
          </a:xfrm>
          <a:prstGeom prst="roundRect">
            <a:avLst>
              <a:gd name="adj" fmla="val 11429"/>
            </a:avLst>
          </a:prstGeom>
          <a:solidFill>
            <a:srgbClr val="D6E4F7"/>
          </a:solidFill>
          <a:ln/>
        </p:spPr>
      </p:sp>
      <p:sp>
        <p:nvSpPr>
          <p:cNvPr id="40" name="Text 38"/>
          <p:cNvSpPr/>
          <p:nvPr/>
        </p:nvSpPr>
        <p:spPr>
          <a:xfrm>
            <a:off x="2971800" y="208483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0" y="2240280"/>
            <a:ext cx="50292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72200" y="2084832"/>
            <a:ext cx="502920" cy="320040"/>
          </a:xfrm>
          <a:prstGeom prst="roundRect">
            <a:avLst>
              <a:gd name="adj" fmla="val 11429"/>
            </a:avLst>
          </a:prstGeom>
          <a:solidFill>
            <a:srgbClr val="D6E4F7"/>
          </a:solidFill>
          <a:ln/>
        </p:spPr>
      </p:sp>
      <p:sp>
        <p:nvSpPr>
          <p:cNvPr id="43" name="Text 41"/>
          <p:cNvSpPr/>
          <p:nvPr/>
        </p:nvSpPr>
        <p:spPr>
          <a:xfrm>
            <a:off x="6172200" y="208483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468880" y="20116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834640" y="20116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669280" y="20116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126480" y="20116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0,N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Clé primaire    FK Clé étrangère    [] Tableau    {} Objet imbriqué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Conception BDD — Modèle Physique (MPD)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MongoDB — Structure réelle en base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234440"/>
            <a:ext cx="2834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34440"/>
            <a:ext cx="2834640" cy="3474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234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users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6642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"_id": ObjectId,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String,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5760" y="245059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"email": String,  // unique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284378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"password": String,  // bcrypt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323697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"cartData": { "prodId": { "taille": qty } }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36301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73552" y="1234440"/>
            <a:ext cx="2834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73552" y="1234440"/>
            <a:ext cx="2834640" cy="34747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7" name="Text 15"/>
          <p:cNvSpPr/>
          <p:nvPr/>
        </p:nvSpPr>
        <p:spPr>
          <a:xfrm>
            <a:off x="3273552" y="1234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products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64992" y="16642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"_id": ObjectId,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64992" y="2057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String,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64992" y="245059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"price": Number,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64992" y="284378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"image": [ url1, url2, ... ],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64992" y="323697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"category": String,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64992" y="36301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"sizes": [ "S", "M", "L" ],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64992" y="40233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"bestseller": Boolean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64992" y="441655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72784" y="1234440"/>
            <a:ext cx="2834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72784" y="1234440"/>
            <a:ext cx="2834640" cy="347472"/>
          </a:xfrm>
          <a:prstGeom prst="rect">
            <a:avLst/>
          </a:prstGeom>
          <a:solidFill>
            <a:srgbClr val="E8500A"/>
          </a:solidFill>
          <a:ln/>
        </p:spPr>
      </p:sp>
      <p:sp>
        <p:nvSpPr>
          <p:cNvPr id="28" name="Text 26"/>
          <p:cNvSpPr/>
          <p:nvPr/>
        </p:nvSpPr>
        <p:spPr>
          <a:xfrm>
            <a:off x="6272784" y="1234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orders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64224" y="16642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"_id": ObjectId,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64224" y="2057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"userId": String,  // ref User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64224" y="245059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 { produit, size, qty } ],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64224" y="284378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"amount": Number,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64224" y="323697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"adress": { prenom, rue, ville... },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64224" y="36301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"paymentMethod": "Stripe" | "COD",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64224" y="40233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"payment": Boolean,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64224" y="441655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String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64224" y="480974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74320" y="47365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: foreverDB  •  Hébergement : MongoDB Atlas  •  ODM : Mongoose v9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Fil rouge : Authentification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Zoning de la page Login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155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page de connexion/inscription est un composant unique qui bascule entre deux modes selon l'action de l'utilisateur.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840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3840480" cy="3200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: Connexion (Login)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901952"/>
            <a:ext cx="3474720" cy="40233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0195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 + LIGNE DÉCORATIVE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3474720" cy="402336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37744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 EMAIL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852928"/>
            <a:ext cx="3474720" cy="402336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52928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 MOT DE PASSE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328416"/>
            <a:ext cx="347472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32841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: Mot de passe oublié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803904"/>
            <a:ext cx="347472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80390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: Créer un compte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347472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7939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: Se connecter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1463040"/>
            <a:ext cx="3840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1463040"/>
            <a:ext cx="3840480" cy="3200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: Inscription (Sign up)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1901952"/>
            <a:ext cx="3474720" cy="40233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0" y="190195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 + LIGNE DÉCORATIVE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0" y="2377440"/>
            <a:ext cx="3474720" cy="402336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0" y="237744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 NOM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0" y="2852928"/>
            <a:ext cx="3474720" cy="402336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0" y="2852928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 EMAIL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0" y="3328416"/>
            <a:ext cx="3474720" cy="402336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0" y="332841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 MOT DE PASSE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0" y="3803904"/>
            <a:ext cx="347472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0" y="380390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: Se connecter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0" y="4279392"/>
            <a:ext cx="3474720" cy="402336"/>
          </a:xfrm>
          <a:prstGeom prst="rect">
            <a:avLst/>
          </a:prstGeom>
          <a:solidFill>
            <a:srgbClr val="2E75B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0" y="427939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: S'inscrire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Fil rouge : Authentification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Wireframe de la page Login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170432"/>
            <a:ext cx="3657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71600" y="14447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468880" y="1810512"/>
            <a:ext cx="822960" cy="3657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975104"/>
            <a:ext cx="329184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19751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80160" y="2633472"/>
            <a:ext cx="329184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26334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33467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 oublié ?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017520" y="33467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compte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0" y="3749040"/>
            <a:ext cx="2194560" cy="43891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6" name="Text 14"/>
          <p:cNvSpPr/>
          <p:nvPr/>
        </p:nvSpPr>
        <p:spPr>
          <a:xfrm>
            <a:off x="1828800" y="374904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370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Bascule via setCurrentState()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1673352"/>
            <a:ext cx="274320" cy="0"/>
          </a:xfrm>
          <a:prstGeom prst="line">
            <a:avLst/>
          </a:prstGeom>
          <a:noFill/>
          <a:ln w="19050">
            <a:solidFill>
              <a:srgbClr val="E85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1508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useState() pour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champ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73168" y="2615184"/>
            <a:ext cx="274320" cy="0"/>
          </a:xfrm>
          <a:prstGeom prst="line">
            <a:avLst/>
          </a:prstGeom>
          <a:noFill/>
          <a:ln w="19050">
            <a:solidFill>
              <a:srgbClr val="E85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event.preventDefault()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onSubmitHandler()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73168" y="3291840"/>
            <a:ext cx="274320" cy="0"/>
          </a:xfrm>
          <a:prstGeom prst="line">
            <a:avLst/>
          </a:prstGeom>
          <a:noFill/>
          <a:ln w="19050">
            <a:solidFill>
              <a:srgbClr val="E85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4920" y="31272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→ localStorage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navigate('/')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Fil rouge : Authentification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 final — Pages Login et Sign up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1556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Voici le rendu réel de la page d'authentification dans le navigateur, avec les deux modes accessibles depuis le même composant.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931920" cy="3310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3931920" cy="329184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: Login — Connexion</a:t>
            </a:r>
            <a:endParaRPr lang="en-US" sz="12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1952"/>
            <a:ext cx="3474720" cy="248716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754880" y="1463040"/>
            <a:ext cx="3931920" cy="3310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463040"/>
            <a:ext cx="3931920" cy="32918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0"/>
          <p:cNvSpPr/>
          <p:nvPr/>
        </p:nvSpPr>
        <p:spPr>
          <a:xfrm>
            <a:off x="4754880" y="14630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: Sign up — Inscription</a:t>
            </a:r>
            <a:endParaRPr lang="en-US" sz="12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901952"/>
            <a:ext cx="3474720" cy="276148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274320" y="4800600"/>
            <a:ext cx="8595360" cy="228600"/>
          </a:xfrm>
          <a:prstGeom prst="rect">
            <a:avLst/>
          </a:prstGeom>
          <a:solidFill>
            <a:srgbClr val="D6E4F7"/>
          </a:solidFill>
          <a:ln/>
        </p:spPr>
      </p:sp>
      <p:sp>
        <p:nvSpPr>
          <p:cNvPr id="16" name="Text 12"/>
          <p:cNvSpPr/>
          <p:nvPr/>
        </p:nvSpPr>
        <p:spPr>
          <a:xfrm>
            <a:off x="320040" y="48006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Un seul composant Login.jsx  •  Bascule via useState('Login' | 'Sign up')  •  Token JWT stocké dans localStorage  •  Redirection automatique vers '/'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Fil rouge : Authentification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Code Frontend (Login.jsx)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170432"/>
            <a:ext cx="8595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70432"/>
            <a:ext cx="8595360" cy="365760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225296"/>
            <a:ext cx="228600" cy="228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12161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Login.jsx — Connexion &amp; Inscription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161848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[currentState, setCurrentState] = useState('Login') // 'Login' ou 'Sign up'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11480" y="185623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11480" y="209397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onSubmitHandler = async (event) =&gt; {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11480" y="233172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event.preventDefault()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11480" y="2569464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(currentState === 'Sign up') {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11480" y="280720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res = await axios.post(backendUrl + '/api/user/register', {name, email, password})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11480" y="304495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(res.data.success) {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11480" y="328269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setToken(res.data.token)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11480" y="3520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localStorage.setItem('token', res.data.token)  // Persistance session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11480" y="3758184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11480" y="3995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else {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11480" y="423367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res = await axios.post(backendUrl + '/api/user/login', {email, password})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11480" y="447141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(res.data.success) { setToken(res.data.token) }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11480" y="470916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11480" y="4946904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Fil rouge : Authentification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Code Backend (userController + middleware)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170432"/>
            <a:ext cx="1554480" cy="658368"/>
          </a:xfrm>
          <a:prstGeom prst="rect">
            <a:avLst/>
          </a:prstGeom>
          <a:solidFill>
            <a:srgbClr val="2E75B6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11704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/login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783080" y="132588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3864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93392" y="1170432"/>
            <a:ext cx="1554480" cy="658368"/>
          </a:xfrm>
          <a:prstGeom prst="rect">
            <a:avLst/>
          </a:prstGeom>
          <a:solidFill>
            <a:srgbClr val="64748B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93392" y="11704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mdp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47872" y="132588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3864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758184" y="1170432"/>
            <a:ext cx="1554480" cy="658368"/>
          </a:xfrm>
          <a:prstGeom prst="rect">
            <a:avLst/>
          </a:prstGeom>
          <a:solidFill>
            <a:srgbClr val="7C3AED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58184" y="11704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bcrypt.hash()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compare()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312664" y="132588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3864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522976" y="1170432"/>
            <a:ext cx="1554480" cy="658368"/>
          </a:xfrm>
          <a:prstGeom prst="rect">
            <a:avLst/>
          </a:prstGeom>
          <a:solidFill>
            <a:srgbClr val="1F3864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522976" y="11704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jwt.sign()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généré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077456" y="132588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3864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287768" y="1170432"/>
            <a:ext cx="1554480" cy="658368"/>
          </a:xfrm>
          <a:prstGeom prst="rect">
            <a:avLst/>
          </a:prstGeom>
          <a:solidFill>
            <a:srgbClr val="05966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87768" y="11704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success: true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token: '...' }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1993392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1993392"/>
            <a:ext cx="4114800" cy="329184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199339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userController.js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2404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Inscription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1480" y="26791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salt = await bcrypt.genSalt(10)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" y="29535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hashed = await bcrypt.hash(password, salt)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1480" y="32278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user = new userModel({name,email,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1480" y="35021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password: hashed })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11480" y="37764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user.save()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" y="40507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token = jwt.sign({id}, JWT_SECRET)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11480" y="4325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res.json({ success: true, token })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1993392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1993392"/>
            <a:ext cx="4114800" cy="32918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3" name="Text 31"/>
          <p:cNvSpPr/>
          <p:nvPr/>
        </p:nvSpPr>
        <p:spPr>
          <a:xfrm>
            <a:off x="4663440" y="199339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auth.js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2404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Protège les routes privées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00600" y="26791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token } = req.headers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00600" y="29535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(!token) return res.json(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800600" y="32278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success: false })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0600" y="35021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decoded = jwt.verify(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00600" y="37764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token, JWT_SECRET)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00600" y="40507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req.body.userId = decoded.id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00600" y="4325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next() // Accès autorisé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A16BD6-C38D-FBA5-265A-19AFCFBA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9474C2-2B39-FCB2-AEB5-8729BEFC0681}"/>
              </a:ext>
            </a:extLst>
          </p:cNvPr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354699-C45B-32D5-E979-C6A463AAD898}"/>
              </a:ext>
            </a:extLst>
          </p:cNvPr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Fil rouge : Authentification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A63F0C-C541-F27C-4D90-71690A3D5BF5}"/>
              </a:ext>
            </a:extLst>
          </p:cNvPr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Base de données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B46A4D9-6C30-1A9E-8E06-0A179B9F1212}"/>
              </a:ext>
            </a:extLst>
          </p:cNvPr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C99AFC1-0E0F-79D4-7B50-9DA0E5933AA6}"/>
              </a:ext>
            </a:extLst>
          </p:cNvPr>
          <p:cNvSpPr/>
          <p:nvPr/>
        </p:nvSpPr>
        <p:spPr>
          <a:xfrm>
            <a:off x="274320" y="1170432"/>
            <a:ext cx="8595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943EF7A-53C3-037B-C0FD-2B2B22ABF649}"/>
              </a:ext>
            </a:extLst>
          </p:cNvPr>
          <p:cNvSpPr/>
          <p:nvPr/>
        </p:nvSpPr>
        <p:spPr>
          <a:xfrm>
            <a:off x="274320" y="1170432"/>
            <a:ext cx="8595360" cy="365760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195B04C2-1F2A-FD9B-1233-E87FF21D0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225296"/>
            <a:ext cx="228600" cy="22860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43F45516-8946-64E6-72B9-33409F9DE819}"/>
              </a:ext>
            </a:extLst>
          </p:cNvPr>
          <p:cNvSpPr/>
          <p:nvPr/>
        </p:nvSpPr>
        <p:spPr>
          <a:xfrm>
            <a:off x="658368" y="12161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MongoDB Atlas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38791F0-6189-4561-BAAA-A8B04FD6709E}"/>
              </a:ext>
            </a:extLst>
          </p:cNvPr>
          <p:cNvSpPr/>
          <p:nvPr/>
        </p:nvSpPr>
        <p:spPr>
          <a:xfrm>
            <a:off x="411480" y="161848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1B3C609-F34E-22F8-5CA9-87D59C1955CE}"/>
              </a:ext>
            </a:extLst>
          </p:cNvPr>
          <p:cNvSpPr/>
          <p:nvPr/>
        </p:nvSpPr>
        <p:spPr>
          <a:xfrm>
            <a:off x="411480" y="185623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633A3C16-DEFB-BD12-4CFC-41B8EFA403B6}"/>
              </a:ext>
            </a:extLst>
          </p:cNvPr>
          <p:cNvSpPr/>
          <p:nvPr/>
        </p:nvSpPr>
        <p:spPr>
          <a:xfrm>
            <a:off x="411480" y="209397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8C39424-CB8F-268A-855A-40DE72BA12ED}"/>
              </a:ext>
            </a:extLst>
          </p:cNvPr>
          <p:cNvSpPr/>
          <p:nvPr/>
        </p:nvSpPr>
        <p:spPr>
          <a:xfrm>
            <a:off x="411480" y="233172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A1AB19D9-300C-4FFF-2192-14FC9BD1003B}"/>
              </a:ext>
            </a:extLst>
          </p:cNvPr>
          <p:cNvSpPr/>
          <p:nvPr/>
        </p:nvSpPr>
        <p:spPr>
          <a:xfrm>
            <a:off x="411480" y="2569464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98438FB-480D-760F-CD56-9E689CD0920B}"/>
              </a:ext>
            </a:extLst>
          </p:cNvPr>
          <p:cNvSpPr/>
          <p:nvPr/>
        </p:nvSpPr>
        <p:spPr>
          <a:xfrm>
            <a:off x="411480" y="280720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A606AED-7A19-7C87-B0C7-E84DF6CFC9E9}"/>
              </a:ext>
            </a:extLst>
          </p:cNvPr>
          <p:cNvSpPr/>
          <p:nvPr/>
        </p:nvSpPr>
        <p:spPr>
          <a:xfrm>
            <a:off x="411480" y="304495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B862630E-40E8-C692-12B2-517318ECF8E2}"/>
              </a:ext>
            </a:extLst>
          </p:cNvPr>
          <p:cNvSpPr/>
          <p:nvPr/>
        </p:nvSpPr>
        <p:spPr>
          <a:xfrm>
            <a:off x="411480" y="328269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CC22050-51E4-1CE2-8300-643C38033CBA}"/>
              </a:ext>
            </a:extLst>
          </p:cNvPr>
          <p:cNvSpPr/>
          <p:nvPr/>
        </p:nvSpPr>
        <p:spPr>
          <a:xfrm>
            <a:off x="411480" y="3520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D0538A83-B952-4B5D-F5AA-A6CAD96586B8}"/>
              </a:ext>
            </a:extLst>
          </p:cNvPr>
          <p:cNvSpPr/>
          <p:nvPr/>
        </p:nvSpPr>
        <p:spPr>
          <a:xfrm>
            <a:off x="411480" y="3758184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9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7EF9A15-8A18-6D4C-AB76-8ED73B44FC22}"/>
              </a:ext>
            </a:extLst>
          </p:cNvPr>
          <p:cNvSpPr/>
          <p:nvPr/>
        </p:nvSpPr>
        <p:spPr>
          <a:xfrm>
            <a:off x="411480" y="3995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4755D7E-0627-A601-52DF-32113DF71BC7}"/>
              </a:ext>
            </a:extLst>
          </p:cNvPr>
          <p:cNvSpPr/>
          <p:nvPr/>
        </p:nvSpPr>
        <p:spPr>
          <a:xfrm>
            <a:off x="411480" y="423367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D65996D9-D5BD-ED11-89FA-8476727C23B4}"/>
              </a:ext>
            </a:extLst>
          </p:cNvPr>
          <p:cNvSpPr/>
          <p:nvPr/>
        </p:nvSpPr>
        <p:spPr>
          <a:xfrm>
            <a:off x="411480" y="447141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D120FD36-8548-60C9-9277-15EC98CE5776}"/>
              </a:ext>
            </a:extLst>
          </p:cNvPr>
          <p:cNvSpPr/>
          <p:nvPr/>
        </p:nvSpPr>
        <p:spPr>
          <a:xfrm>
            <a:off x="411480" y="470916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900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C0FE4BF6-7498-5CB8-B64A-E12DEF199E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1" y="1554480"/>
            <a:ext cx="8595360" cy="3050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3300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Fil rouge : Du panier au paiement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Zoning de l'interface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zoning définit les grandes zones fonctionnelles de chaque page avant de commencer le design.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417320"/>
            <a:ext cx="2834640" cy="3474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Catalogue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187452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8745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 (logo + nav + search + cart)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468880"/>
            <a:ext cx="2560320" cy="475488"/>
          </a:xfrm>
          <a:prstGeom prst="rect">
            <a:avLst/>
          </a:prstGeom>
          <a:solidFill>
            <a:srgbClr val="D6E4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(catégorie, sous-cat, tri)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306324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0632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PRODUITS (2 à 5 col.)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1480" y="365760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6576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73552" y="141732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73552" y="1417320"/>
            <a:ext cx="2834640" cy="3474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Produit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10712" y="187452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10712" y="18745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10712" y="246888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0712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GALERIE IMAGES (gauche)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410712" y="306324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10712" y="30632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 PRODUIT (droite : nom, prix, tailles, bouton)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410712" y="365760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10712" y="36576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SIMILAIRES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410712" y="425196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10712" y="425196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72784" y="141732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272784" y="1417320"/>
            <a:ext cx="2834640" cy="3474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3" name="Text 31"/>
          <p:cNvSpPr/>
          <p:nvPr/>
        </p:nvSpPr>
        <p:spPr>
          <a:xfrm>
            <a:off x="6272784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Panier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9944" y="187452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9944" y="18745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09944" y="246888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9944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ARTICLES (image, nom, taille, qté, prix)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9944" y="3063240"/>
            <a:ext cx="2560320" cy="475488"/>
          </a:xfrm>
          <a:prstGeom prst="rect">
            <a:avLst/>
          </a:prstGeom>
          <a:solidFill>
            <a:srgbClr val="D6E4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9944" y="30632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RÉCAPITULATIF TOTAL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09944" y="365760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9944" y="36576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PAIEMENT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409944" y="4251960"/>
            <a:ext cx="25603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9944" y="425196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69658A-D13B-9F74-D98C-8908EDD66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42162F0-A013-57DC-3693-D89CE6BAE0CC}"/>
              </a:ext>
            </a:extLst>
          </p:cNvPr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C490228-7AF5-D28A-6D36-16C443215DCF}"/>
              </a:ext>
            </a:extLst>
          </p:cNvPr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Fil rouge : Du panier au paiement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74AA616-B943-2E37-5735-49B7593203AC}"/>
              </a:ext>
            </a:extLst>
          </p:cNvPr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</a:t>
            </a:r>
            <a:r>
              <a:rPr lang="en-US" sz="1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</a:t>
            </a: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ABB7A3F-A90F-75AE-85A4-3101C11650BC}"/>
              </a:ext>
            </a:extLst>
          </p:cNvPr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41B0219-4DE2-DD62-B459-838CAF80CD3C}"/>
              </a:ext>
            </a:extLst>
          </p:cNvPr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zoning définit les grandes zones fonctionnelles de chaque page avant de commencer le design.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FC6253B-1300-F947-7F55-2E48087464BF}"/>
              </a:ext>
            </a:extLst>
          </p:cNvPr>
          <p:cNvSpPr/>
          <p:nvPr/>
        </p:nvSpPr>
        <p:spPr>
          <a:xfrm>
            <a:off x="274320" y="141732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A3E936D-04A7-B770-EBFF-F8BCAFD8DD41}"/>
              </a:ext>
            </a:extLst>
          </p:cNvPr>
          <p:cNvSpPr/>
          <p:nvPr/>
        </p:nvSpPr>
        <p:spPr>
          <a:xfrm>
            <a:off x="274320" y="1417320"/>
            <a:ext cx="8503920" cy="3474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D8B7294-4F67-C393-B7C4-D04A17E01B60}"/>
              </a:ext>
            </a:extLst>
          </p:cNvPr>
          <p:cNvSpPr/>
          <p:nvPr/>
        </p:nvSpPr>
        <p:spPr>
          <a:xfrm>
            <a:off x="274320" y="141732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Page Catalogue</a:t>
            </a:r>
            <a:endParaRPr lang="en-US" sz="1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82D2939-3EB3-159C-1411-21751A3C4E56}"/>
              </a:ext>
            </a:extLst>
          </p:cNvPr>
          <p:cNvSpPr/>
          <p:nvPr/>
        </p:nvSpPr>
        <p:spPr>
          <a:xfrm>
            <a:off x="411480" y="18745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6B5965A-37F0-DF0A-BBFE-2770B9B3F58C}"/>
              </a:ext>
            </a:extLst>
          </p:cNvPr>
          <p:cNvSpPr/>
          <p:nvPr/>
        </p:nvSpPr>
        <p:spPr>
          <a:xfrm>
            <a:off x="411480" y="30632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5B8FC8D-9C3A-F650-54B9-134CF930918E}"/>
              </a:ext>
            </a:extLst>
          </p:cNvPr>
          <p:cNvSpPr/>
          <p:nvPr/>
        </p:nvSpPr>
        <p:spPr>
          <a:xfrm>
            <a:off x="411480" y="36576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08CF2DA-E2BC-83A7-1B47-3706B8CCF1E3}"/>
              </a:ext>
            </a:extLst>
          </p:cNvPr>
          <p:cNvSpPr/>
          <p:nvPr/>
        </p:nvSpPr>
        <p:spPr>
          <a:xfrm>
            <a:off x="3273552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A442093-2012-81A9-1E36-8BC82E493A59}"/>
              </a:ext>
            </a:extLst>
          </p:cNvPr>
          <p:cNvSpPr/>
          <p:nvPr/>
        </p:nvSpPr>
        <p:spPr>
          <a:xfrm>
            <a:off x="3410712" y="18745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AD2A05D-A65C-B4AA-463C-C6EF517CCEBA}"/>
              </a:ext>
            </a:extLst>
          </p:cNvPr>
          <p:cNvSpPr/>
          <p:nvPr/>
        </p:nvSpPr>
        <p:spPr>
          <a:xfrm>
            <a:off x="3410712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90543EC-98A6-B978-DDE9-21E720790BE8}"/>
              </a:ext>
            </a:extLst>
          </p:cNvPr>
          <p:cNvSpPr/>
          <p:nvPr/>
        </p:nvSpPr>
        <p:spPr>
          <a:xfrm>
            <a:off x="3410712" y="30632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C98E133E-9639-3670-2945-74E985A41C0E}"/>
              </a:ext>
            </a:extLst>
          </p:cNvPr>
          <p:cNvSpPr/>
          <p:nvPr/>
        </p:nvSpPr>
        <p:spPr>
          <a:xfrm>
            <a:off x="3410712" y="36576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69BE18F-45FC-8692-E2A4-8EC89BB7314A}"/>
              </a:ext>
            </a:extLst>
          </p:cNvPr>
          <p:cNvSpPr/>
          <p:nvPr/>
        </p:nvSpPr>
        <p:spPr>
          <a:xfrm>
            <a:off x="3410712" y="425196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0BEAFB1-B523-76FB-B922-3EBA925DB712}"/>
              </a:ext>
            </a:extLst>
          </p:cNvPr>
          <p:cNvSpPr/>
          <p:nvPr/>
        </p:nvSpPr>
        <p:spPr>
          <a:xfrm>
            <a:off x="6272784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4FBCFEF-4294-B15D-CEEF-4A8D1F82F515}"/>
              </a:ext>
            </a:extLst>
          </p:cNvPr>
          <p:cNvSpPr/>
          <p:nvPr/>
        </p:nvSpPr>
        <p:spPr>
          <a:xfrm>
            <a:off x="6409944" y="18745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54FEE125-2130-AA3D-93D8-09FB0941903A}"/>
              </a:ext>
            </a:extLst>
          </p:cNvPr>
          <p:cNvSpPr/>
          <p:nvPr/>
        </p:nvSpPr>
        <p:spPr>
          <a:xfrm>
            <a:off x="6409944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35882B00-E342-EA7D-B034-F4C859B8960C}"/>
              </a:ext>
            </a:extLst>
          </p:cNvPr>
          <p:cNvSpPr/>
          <p:nvPr/>
        </p:nvSpPr>
        <p:spPr>
          <a:xfrm>
            <a:off x="6409944" y="30632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1CEFBB0A-93F9-9079-C303-70ABD52EC9E4}"/>
              </a:ext>
            </a:extLst>
          </p:cNvPr>
          <p:cNvSpPr/>
          <p:nvPr/>
        </p:nvSpPr>
        <p:spPr>
          <a:xfrm>
            <a:off x="6409944" y="36576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A356EC75-E7B0-26C9-6FB4-F88E4576ACF8}"/>
              </a:ext>
            </a:extLst>
          </p:cNvPr>
          <p:cNvSpPr/>
          <p:nvPr/>
        </p:nvSpPr>
        <p:spPr>
          <a:xfrm>
            <a:off x="6409944" y="425196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pic>
        <p:nvPicPr>
          <p:cNvPr id="45" name="Image 44">
            <a:extLst>
              <a:ext uri="{FF2B5EF4-FFF2-40B4-BE49-F238E27FC236}">
                <a16:creationId xmlns:a16="http://schemas.microsoft.com/office/drawing/2014/main" id="{D77F1B98-CBF3-1447-7933-123BCFFCDA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19" y="1764791"/>
            <a:ext cx="8458201" cy="311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915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A9B3C-66EF-38BB-99DF-9D0D43C08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0687A3-50BE-3422-4FAD-33532A904282}"/>
              </a:ext>
            </a:extLst>
          </p:cNvPr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0FCF528-A6C8-A54B-EF5F-59A5296C5A99}"/>
              </a:ext>
            </a:extLst>
          </p:cNvPr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Fil rouge : Du panier au paiement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AA67AD1-C501-F86D-D5D0-F89438E80353}"/>
              </a:ext>
            </a:extLst>
          </p:cNvPr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</a:t>
            </a:r>
            <a:r>
              <a:rPr lang="en-US" sz="1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</a:t>
            </a: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 de l'interface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671A9F0-06B4-2A56-35F8-60A21E468F22}"/>
              </a:ext>
            </a:extLst>
          </p:cNvPr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EFBCA10-F236-D0F5-5FA4-77BCD7C9B0E4}"/>
              </a:ext>
            </a:extLst>
          </p:cNvPr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zoning définit les grandes zones fonctionnelles de chaque page avant de commencer le design.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556C637-9BE9-11FA-5878-3965A8D4A835}"/>
              </a:ext>
            </a:extLst>
          </p:cNvPr>
          <p:cNvSpPr/>
          <p:nvPr/>
        </p:nvSpPr>
        <p:spPr>
          <a:xfrm>
            <a:off x="274320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Cata</a:t>
            </a:r>
            <a:endParaRPr lang="en-US" sz="1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DEBEE98-46D2-812D-405D-CCFE3B5373AF}"/>
              </a:ext>
            </a:extLst>
          </p:cNvPr>
          <p:cNvSpPr/>
          <p:nvPr/>
        </p:nvSpPr>
        <p:spPr>
          <a:xfrm>
            <a:off x="411480" y="18745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7F71A8E-3B80-5239-2C9B-59B3443C17D5}"/>
              </a:ext>
            </a:extLst>
          </p:cNvPr>
          <p:cNvSpPr/>
          <p:nvPr/>
        </p:nvSpPr>
        <p:spPr>
          <a:xfrm>
            <a:off x="411480" y="30632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4F67B2E-8F0C-8A03-1EE3-CBB11E245182}"/>
              </a:ext>
            </a:extLst>
          </p:cNvPr>
          <p:cNvSpPr/>
          <p:nvPr/>
        </p:nvSpPr>
        <p:spPr>
          <a:xfrm>
            <a:off x="411480" y="36576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2711B5D-85B4-455C-0CDC-20E2DFA58717}"/>
              </a:ext>
            </a:extLst>
          </p:cNvPr>
          <p:cNvSpPr/>
          <p:nvPr/>
        </p:nvSpPr>
        <p:spPr>
          <a:xfrm>
            <a:off x="365760" y="1417320"/>
            <a:ext cx="8366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39F9D59B-E8EB-55FA-AC93-3E1C5AC8E008}"/>
              </a:ext>
            </a:extLst>
          </p:cNvPr>
          <p:cNvSpPr/>
          <p:nvPr/>
        </p:nvSpPr>
        <p:spPr>
          <a:xfrm>
            <a:off x="365760" y="1417320"/>
            <a:ext cx="8366760" cy="3474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7F3FF94-AC4D-CA03-7658-A5D1187A09EC}"/>
              </a:ext>
            </a:extLst>
          </p:cNvPr>
          <p:cNvSpPr/>
          <p:nvPr/>
        </p:nvSpPr>
        <p:spPr>
          <a:xfrm>
            <a:off x="3273552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Produit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688201D-1CBC-608D-4233-EB36B47ED714}"/>
              </a:ext>
            </a:extLst>
          </p:cNvPr>
          <p:cNvSpPr/>
          <p:nvPr/>
        </p:nvSpPr>
        <p:spPr>
          <a:xfrm>
            <a:off x="3410712" y="18745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6D8DBE2-AFF9-F4AB-44E6-C4601FF88FC8}"/>
              </a:ext>
            </a:extLst>
          </p:cNvPr>
          <p:cNvSpPr/>
          <p:nvPr/>
        </p:nvSpPr>
        <p:spPr>
          <a:xfrm>
            <a:off x="3410712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2399578-50D3-4F36-72DC-50DCF2620FF3}"/>
              </a:ext>
            </a:extLst>
          </p:cNvPr>
          <p:cNvSpPr/>
          <p:nvPr/>
        </p:nvSpPr>
        <p:spPr>
          <a:xfrm>
            <a:off x="3410712" y="30632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9B04B557-DC74-CD6E-4960-AB9BD59507CF}"/>
              </a:ext>
            </a:extLst>
          </p:cNvPr>
          <p:cNvSpPr/>
          <p:nvPr/>
        </p:nvSpPr>
        <p:spPr>
          <a:xfrm>
            <a:off x="3410712" y="36576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B43E1424-F57B-A5E1-B76E-32CBD56144AB}"/>
              </a:ext>
            </a:extLst>
          </p:cNvPr>
          <p:cNvSpPr/>
          <p:nvPr/>
        </p:nvSpPr>
        <p:spPr>
          <a:xfrm>
            <a:off x="3410712" y="425196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7A249DDF-D782-A528-B38D-4DFC08115C92}"/>
              </a:ext>
            </a:extLst>
          </p:cNvPr>
          <p:cNvSpPr/>
          <p:nvPr/>
        </p:nvSpPr>
        <p:spPr>
          <a:xfrm>
            <a:off x="6272784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DB3CE4C-8A55-033D-F162-57047DEE269B}"/>
              </a:ext>
            </a:extLst>
          </p:cNvPr>
          <p:cNvSpPr/>
          <p:nvPr/>
        </p:nvSpPr>
        <p:spPr>
          <a:xfrm>
            <a:off x="6409944" y="18745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B49F4CC3-A4EA-DEFB-98D8-10C0BB2E4A03}"/>
              </a:ext>
            </a:extLst>
          </p:cNvPr>
          <p:cNvSpPr/>
          <p:nvPr/>
        </p:nvSpPr>
        <p:spPr>
          <a:xfrm>
            <a:off x="6409944" y="2468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AB394535-94C9-5DEB-1910-03FEE4F7E49F}"/>
              </a:ext>
            </a:extLst>
          </p:cNvPr>
          <p:cNvSpPr/>
          <p:nvPr/>
        </p:nvSpPr>
        <p:spPr>
          <a:xfrm>
            <a:off x="6409944" y="30632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00A51588-A7DE-1E15-6828-1D511F278B29}"/>
              </a:ext>
            </a:extLst>
          </p:cNvPr>
          <p:cNvSpPr/>
          <p:nvPr/>
        </p:nvSpPr>
        <p:spPr>
          <a:xfrm>
            <a:off x="6409944" y="36576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31B448C7-175F-D0BB-1B67-8250AF1D633A}"/>
              </a:ext>
            </a:extLst>
          </p:cNvPr>
          <p:cNvSpPr/>
          <p:nvPr/>
        </p:nvSpPr>
        <p:spPr>
          <a:xfrm>
            <a:off x="6409944" y="425196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DCB8A230-5B90-7D47-59FF-7ADC9756E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64792"/>
            <a:ext cx="8366760" cy="335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723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Fil rouge : Du panier au paiement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Wireframe de la page Panier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88720"/>
            <a:ext cx="47548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754880" cy="2926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887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Panier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938528"/>
            <a:ext cx="4480560" cy="65836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984248"/>
            <a:ext cx="502920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8424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[img]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43000" y="2011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du produit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• Taille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66160" y="2057400"/>
            <a:ext cx="457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20574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Qté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0" y="20574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743200"/>
            <a:ext cx="448056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8346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Sous-total : 50.00€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port : 10.00€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: 60.00€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4133088"/>
            <a:ext cx="4480560" cy="4114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13308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PROCÉDER AU PAIEMENT 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138928" y="1554480"/>
            <a:ext cx="182880" cy="0"/>
          </a:xfrm>
          <a:prstGeom prst="line">
            <a:avLst/>
          </a:prstGeom>
          <a:noFill/>
          <a:ln w="19050">
            <a:solidFill>
              <a:srgbClr val="E85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0" y="1417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updateQuantity()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temps réel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38928" y="2423160"/>
            <a:ext cx="182880" cy="0"/>
          </a:xfrm>
          <a:prstGeom prst="line">
            <a:avLst/>
          </a:prstGeom>
          <a:noFill/>
          <a:ln w="19050">
            <a:solidFill>
              <a:srgbClr val="E85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2286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getCartAmount()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delivery_fee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138928" y="3429000"/>
            <a:ext cx="182880" cy="0"/>
          </a:xfrm>
          <a:prstGeom prst="line">
            <a:avLst/>
          </a:prstGeom>
          <a:noFill/>
          <a:ln w="19050">
            <a:solidFill>
              <a:srgbClr val="E85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navigate('/place-order')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1180E0-0A58-C932-07B0-6030988E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36EAE5C-CED1-7389-4C9F-CEA7B3D066ED}"/>
              </a:ext>
            </a:extLst>
          </p:cNvPr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C694D1-3F42-04A5-98DC-FDE7CE3557E5}"/>
              </a:ext>
            </a:extLst>
          </p:cNvPr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Fil rouge : Du panier au paiement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F4ADCA6-2F9E-CC72-A4C5-ABE25416760D}"/>
              </a:ext>
            </a:extLst>
          </p:cNvPr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</a:t>
            </a:r>
            <a:r>
              <a:rPr lang="en-US" sz="1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</a:t>
            </a: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 de la page Panier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F4EF007-CF78-3C79-7F44-8A1D0DB3219C}"/>
              </a:ext>
            </a:extLst>
          </p:cNvPr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A162773-D585-A463-BEB7-615C0EE47BC0}"/>
              </a:ext>
            </a:extLst>
          </p:cNvPr>
          <p:cNvSpPr/>
          <p:nvPr/>
        </p:nvSpPr>
        <p:spPr>
          <a:xfrm>
            <a:off x="365760" y="1188720"/>
            <a:ext cx="47548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FC92E57-B0B5-D39C-73CC-A970768C2D68}"/>
              </a:ext>
            </a:extLst>
          </p:cNvPr>
          <p:cNvSpPr/>
          <p:nvPr/>
        </p:nvSpPr>
        <p:spPr>
          <a:xfrm>
            <a:off x="365760" y="11887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9C32767-846D-DE8E-EDE9-39262C6EECE9}"/>
              </a:ext>
            </a:extLst>
          </p:cNvPr>
          <p:cNvSpPr/>
          <p:nvPr/>
        </p:nvSpPr>
        <p:spPr>
          <a:xfrm>
            <a:off x="54864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5E9F5A8-80E1-9B79-675D-05144ED29015}"/>
              </a:ext>
            </a:extLst>
          </p:cNvPr>
          <p:cNvSpPr/>
          <p:nvPr/>
        </p:nvSpPr>
        <p:spPr>
          <a:xfrm>
            <a:off x="548640" y="198424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7CF08A4-DECF-B77D-FEF8-C4CDFB2C7B2C}"/>
              </a:ext>
            </a:extLst>
          </p:cNvPr>
          <p:cNvSpPr/>
          <p:nvPr/>
        </p:nvSpPr>
        <p:spPr>
          <a:xfrm>
            <a:off x="1143000" y="2011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138FF9F-EEED-66E2-E2E0-7AF3EDFB48CA}"/>
              </a:ext>
            </a:extLst>
          </p:cNvPr>
          <p:cNvSpPr/>
          <p:nvPr/>
        </p:nvSpPr>
        <p:spPr>
          <a:xfrm>
            <a:off x="3566160" y="20574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FF9C8E5-6CE7-7528-2BB9-484257B31F4D}"/>
              </a:ext>
            </a:extLst>
          </p:cNvPr>
          <p:cNvSpPr/>
          <p:nvPr/>
        </p:nvSpPr>
        <p:spPr>
          <a:xfrm>
            <a:off x="4572000" y="20574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BA920A8-3BA3-E467-2717-3732E28977C1}"/>
              </a:ext>
            </a:extLst>
          </p:cNvPr>
          <p:cNvSpPr/>
          <p:nvPr/>
        </p:nvSpPr>
        <p:spPr>
          <a:xfrm>
            <a:off x="640080" y="28346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F0C7644-5691-34AE-3D08-A7E1FFDB8318}"/>
              </a:ext>
            </a:extLst>
          </p:cNvPr>
          <p:cNvSpPr/>
          <p:nvPr/>
        </p:nvSpPr>
        <p:spPr>
          <a:xfrm>
            <a:off x="502920" y="413308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899F560C-F072-0B73-03E0-D4175C1410B8}"/>
              </a:ext>
            </a:extLst>
          </p:cNvPr>
          <p:cNvSpPr/>
          <p:nvPr/>
        </p:nvSpPr>
        <p:spPr>
          <a:xfrm>
            <a:off x="5138928" y="2423160"/>
            <a:ext cx="182880" cy="0"/>
          </a:xfrm>
          <a:prstGeom prst="line">
            <a:avLst/>
          </a:prstGeom>
          <a:noFill/>
          <a:ln w="19050">
            <a:solidFill>
              <a:srgbClr val="E8500A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7311C4D-83AF-DCF0-3960-899EC7A22840}"/>
              </a:ext>
            </a:extLst>
          </p:cNvPr>
          <p:cNvSpPr/>
          <p:nvPr/>
        </p:nvSpPr>
        <p:spPr>
          <a:xfrm>
            <a:off x="5303520" y="2286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F044F738-6D6C-686A-1EF9-F45051F6E254}"/>
              </a:ext>
            </a:extLst>
          </p:cNvPr>
          <p:cNvSpPr/>
          <p:nvPr/>
        </p:nvSpPr>
        <p:spPr>
          <a:xfrm>
            <a:off x="5138928" y="3429000"/>
            <a:ext cx="182880" cy="0"/>
          </a:xfrm>
          <a:prstGeom prst="line">
            <a:avLst/>
          </a:prstGeom>
          <a:noFill/>
          <a:ln w="19050">
            <a:solidFill>
              <a:srgbClr val="E8500A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2858C5D-9607-041A-813E-189F604B0E51}"/>
              </a:ext>
            </a:extLst>
          </p:cNvPr>
          <p:cNvSpPr/>
          <p:nvPr/>
        </p:nvSpPr>
        <p:spPr>
          <a:xfrm>
            <a:off x="530352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C86574FE-9BE3-689F-1015-90409DE9A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6749743" cy="3858641"/>
          </a:xfrm>
          <a:prstGeom prst="rect">
            <a:avLst/>
          </a:prstGeom>
        </p:spPr>
      </p:pic>
      <p:sp>
        <p:nvSpPr>
          <p:cNvPr id="30" name="Text 20">
            <a:extLst>
              <a:ext uri="{FF2B5EF4-FFF2-40B4-BE49-F238E27FC236}">
                <a16:creationId xmlns:a16="http://schemas.microsoft.com/office/drawing/2014/main" id="{69236F0F-B3C6-62AF-3AB8-BB8C8CA36BA0}"/>
              </a:ext>
            </a:extLst>
          </p:cNvPr>
          <p:cNvSpPr/>
          <p:nvPr/>
        </p:nvSpPr>
        <p:spPr>
          <a:xfrm>
            <a:off x="5303520" y="1627632"/>
            <a:ext cx="3474720" cy="200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updateQuantity()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temps réel</a:t>
            </a:r>
            <a:endParaRPr lang="en-US" sz="10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B0D8BB-B9FD-7AFA-0CB8-011EB96F7445}"/>
              </a:ext>
            </a:extLst>
          </p:cNvPr>
          <p:cNvSpPr/>
          <p:nvPr/>
        </p:nvSpPr>
        <p:spPr>
          <a:xfrm>
            <a:off x="6274676" y="3163825"/>
            <a:ext cx="2655963" cy="1003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getCartAmount()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delivery_fee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7575046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Fil rouge : Du panier au paiement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Code Frontend (React)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18872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88720"/>
            <a:ext cx="4114800" cy="365760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52728"/>
            <a:ext cx="228600" cy="228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12344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ShopContext.jsx — Gestion du panier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" y="16642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Structure : { itemId: { size: qty } }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65760" y="204825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addToCart = async (itemId, size) =&gt; {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65760" y="243230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cartData = structuredClone(cartItems)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65760" y="28163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cartData[itemId][size] += 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65760" y="32004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setCartItems(cartData)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65760" y="3584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axios.post('/api/cart/add',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65760" y="39684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{itemId, size}, {headers:{token}})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65760" y="43525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663440" y="118872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663440" y="1188720"/>
            <a:ext cx="4114800" cy="3657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7"/>
          <p:cNvSpPr/>
          <p:nvPr/>
        </p:nvSpPr>
        <p:spPr>
          <a:xfrm>
            <a:off x="4754880" y="12344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PlaceOrder.jsx — Validation commande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754880" y="16642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Stripe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754880" y="204825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 = await axios.post(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754880" y="243230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'/api/order/stripe',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754880" y="28163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adress, items, amount },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754880" y="32004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headers: { token } }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54880" y="3584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54880" y="39684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window.location.replace(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754880" y="43525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res.data.session_url)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Fil rouge : Du panier au paiement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Code Backend (Express + Stripe)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188720"/>
            <a:ext cx="1554480" cy="685800"/>
          </a:xfrm>
          <a:prstGeom prst="rect">
            <a:avLst/>
          </a:prstGeom>
          <a:solidFill>
            <a:srgbClr val="2E75B6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1234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/api/order/stripe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83080" y="1353312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3864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993392" y="1188720"/>
            <a:ext cx="1554480" cy="685800"/>
          </a:xfrm>
          <a:prstGeom prst="rect">
            <a:avLst/>
          </a:prstGeom>
          <a:solidFill>
            <a:srgbClr val="64748B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993392" y="1234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authUser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93392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547872" y="1353312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3864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58184" y="1188720"/>
            <a:ext cx="1554480" cy="685800"/>
          </a:xfrm>
          <a:prstGeom prst="rect">
            <a:avLst/>
          </a:prstGeom>
          <a:solidFill>
            <a:srgbClr val="1F3864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58184" y="1234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placeOrderStripe()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58184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commande en BDD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12664" y="1353312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3864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522976" y="1188720"/>
            <a:ext cx="1554480" cy="685800"/>
          </a:xfrm>
          <a:prstGeom prst="rect">
            <a:avLst/>
          </a:prstGeom>
          <a:solidFill>
            <a:srgbClr val="635B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22976" y="1234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API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22976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Checkout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77456" y="1353312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3864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287768" y="1188720"/>
            <a:ext cx="1554480" cy="685800"/>
          </a:xfrm>
          <a:prstGeom prst="rect">
            <a:avLst/>
          </a:prstGeom>
          <a:solidFill>
            <a:srgbClr val="059669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287768" y="1234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verifyStripe()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28776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paiement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2057400"/>
            <a:ext cx="8595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2057400"/>
            <a:ext cx="8595360" cy="347472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103120"/>
            <a:ext cx="228600" cy="2286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103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orderControler.js — placeOrderStripe() &amp; verifyStripe()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7200" y="24871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session = await stripe.checkout.sessions.create({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57200" y="28072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success_url: `${origin}/verify?success=true&amp;orderId=${newOrder._id}`,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57200" y="3127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cancel_url:  `${origin}/verify?success=false&amp;orderId=${newOrder._id}`,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57200" y="34472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line_items, mode: 'payment'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57200" y="37673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57200" y="4087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verifyStripe : si success === 'true' → payment:true + vider panier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sinon → supprimer la commande en base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Fil rouge : Du panier au paiement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— Optimisation SEO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1556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SEO permet à la boutique Forever d'être visible sur Google. Voici les optimisations appliquées au projet.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4114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463040"/>
            <a:ext cx="4114800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4630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Problème — SPA React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8928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Toutes les pages partagent le même &lt;title&gt;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18541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Contenu rendu côté client (JavaScript)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4780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peut avoir du mal à tout indexer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1463040"/>
            <a:ext cx="4114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463040"/>
            <a:ext cx="4114800" cy="34747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4630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Solution — react-helmet-async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18928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Titre dynamique unique par page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92040" y="218541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Balises meta description personnalisées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92040" y="24780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Balises Open Graph pour les réseaux sociaux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2999232"/>
            <a:ext cx="5029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99232"/>
            <a:ext cx="5029200" cy="320040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044952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94360" y="3044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— Balises méta ajoutées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11480" y="34015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name="description" content="Forever..." /&gt;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11480" y="36941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property="og:title" content="Forever" /&gt;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11480" y="39867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property="og:image" content="/og-image.jpg" /&gt;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11480" y="42793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name="robots" content="index, follow" /&gt;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11480" y="45720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rel="canonical" href="https://forever.com" /&gt;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577840" y="2999232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577840" y="2999232"/>
            <a:ext cx="3291840" cy="320040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3044952"/>
            <a:ext cx="201168" cy="20116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897880" y="30449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 lisibles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623560" y="3401568"/>
            <a:ext cx="320040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650992" y="34015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7406640" y="3401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5623560" y="3694176"/>
            <a:ext cx="32004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650992" y="36941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/collection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7406640" y="36941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623560" y="3986784"/>
            <a:ext cx="320040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650992" y="39867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/product/:id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7406640" y="398678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5623560" y="4279392"/>
            <a:ext cx="32004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5650992" y="42793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/about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7406640" y="42793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propos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5623560" y="4572000"/>
            <a:ext cx="320040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5650992" y="457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/contact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7406640" y="45720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Sécurité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principales menaces et comment s'en protéger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170432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70432"/>
            <a:ext cx="438912" cy="6949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170432"/>
            <a:ext cx="438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24358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NoSQL / SQL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14813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de code malveillant dans les champs pour manipuler la base de données et accéder à des données non autorisées.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15968" y="1225296"/>
            <a:ext cx="27432" cy="5852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407408" y="12435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Protection :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07408" y="144475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impose des types stricts (String, Number). validator.js vérifie le format. Aucune requête SQL brute — Mongoose sert d'ODM protecteur.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38528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1938528"/>
            <a:ext cx="438912" cy="6949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1938528"/>
            <a:ext cx="438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4672" y="20116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compromise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" y="224942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de token, mot de passe stocké en clair ou session sans expiration permettant un accès permanent non autorisé aux comptes.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15968" y="1993392"/>
            <a:ext cx="27432" cy="5852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20116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Protection :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407408" y="221284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 hachés avec bcrypt (salt 10 tours). JWT signé avec secret sécurisé. Middlewares auth.js et adminAuth.js séparant les droits user/admin.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2706624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706624"/>
            <a:ext cx="438912" cy="69494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2706624"/>
            <a:ext cx="438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04672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Exposition de données sensibles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672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 API, credentials et secrets exposés dans le code source ou sur GitHub permettant l'accès non autorisé aux services tiers.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15968" y="2761488"/>
            <a:ext cx="27432" cy="5852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4407408" y="2779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Protection :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407408" y="298094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clés (JWT, Stripe, Cloudinary, MongoDB) stockées en variables d'environnement. Fichier .env dans .gitignore, jamais commité.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74320" y="3474720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3474720"/>
            <a:ext cx="438912" cy="69494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" y="3474720"/>
            <a:ext cx="438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4672" y="35478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 DDoS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4672" y="3785616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 du serveur par un volume massif de requêtes simultanées rendant l'application indisponible pour les vrais utilisateurs.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315968" y="3529584"/>
            <a:ext cx="27432" cy="5852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4407408" y="35478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Protection :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407408" y="37490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sur Vercel (CDN mondial + protection DDoS intégrée). CORS configuré pour autoriser uniquement les origines connues. Rate limiting à implémenter.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242816"/>
            <a:ext cx="8595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74320" y="4242816"/>
            <a:ext cx="438912" cy="6949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274320" y="4242816"/>
            <a:ext cx="438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04672" y="431596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04672" y="455371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 malveillant qui chiffre les données de l'application ou de la base de données et exige une rançon pour les restituer.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315968" y="4297680"/>
            <a:ext cx="27432" cy="5852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4" name="Text 42"/>
          <p:cNvSpPr/>
          <p:nvPr/>
        </p:nvSpPr>
        <p:spPr>
          <a:xfrm>
            <a:off x="4407408" y="4315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Protection :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407408" y="45171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sur MongoDB Atlas (sauvegardes automatiques quotidiennes, chiffrement au repos). Code source versionné sur GitHub (récupération possible à tout moment).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Sécurité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 technique dans le projet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170432"/>
            <a:ext cx="41148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70432"/>
            <a:ext cx="4114800" cy="329184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07008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21792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— Hachage des mots de passe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11480" y="15727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salt = await bcrypt.genSalt(10)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11480" y="19202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hashed = await bcrypt.hash(password, salt)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11480" y="2267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Vérification : bcrypt.compare(mdp, hash)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754880" y="1170432"/>
            <a:ext cx="41148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54880" y="1170432"/>
            <a:ext cx="4114800" cy="32918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07008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102352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— Authentification stateless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892040" y="15727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Génération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892040" y="19202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jwt.sign({id}, process.env.JWT_SECRET)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4892040" y="2267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Vérification middleware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4892040" y="261518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jwt.verify(token, process.env.JWT_SECRET)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274320" y="2871216"/>
            <a:ext cx="41148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274320" y="2871216"/>
            <a:ext cx="4114800" cy="329184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2907792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21792" y="29077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— Variables d'environnement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411480" y="32552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JWT_SECRET=xxxxx  // jamais en dur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11480" y="3547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STRIPE_SECRET_KEY=sk_live_xxx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11480" y="38404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MONGODB_URI=mongodb+srv://...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411480" y="4133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.gitignore → .env non commité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4754880" y="2871216"/>
            <a:ext cx="41148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4754880" y="2871216"/>
            <a:ext cx="4114800" cy="329184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907792"/>
            <a:ext cx="219456" cy="21945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102352" y="29077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+ Ransomware + CORS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4892040" y="32552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CORS — origines autorisées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4892040" y="349300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app.use(cors())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4892040" y="373075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DDoS → Vercel CDN + protection native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4892040" y="39684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Ransomware → Atlas backups auto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4892040" y="42062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GitHub → code récupérable à tout moment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274320" y="4773168"/>
            <a:ext cx="8595360" cy="237744"/>
          </a:xfrm>
          <a:prstGeom prst="rect">
            <a:avLst/>
          </a:prstGeom>
          <a:solidFill>
            <a:srgbClr val="D6E4F7"/>
          </a:solidFill>
          <a:ln/>
        </p:spPr>
      </p:sp>
      <p:sp>
        <p:nvSpPr>
          <p:cNvPr id="39" name="Text 33"/>
          <p:cNvSpPr/>
          <p:nvPr/>
        </p:nvSpPr>
        <p:spPr>
          <a:xfrm>
            <a:off x="320040" y="4773168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À améliorer : JWT expiresIn: '7d'  •  express-rate-limit (anti DDoS applicatif)  •  Helmet.js (headers HTTP sécurisés)  •  express-validator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Tests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et outils mis en place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Pyramide des tests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3566160"/>
            <a:ext cx="320040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35661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 (base — Jest / Vitest)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2944368"/>
            <a:ext cx="2468880" cy="50292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9443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(Supertest)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51560" y="2331720"/>
            <a:ext cx="173736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composants (Testing Library)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1719072"/>
            <a:ext cx="128016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17190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(futur)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31920" y="1170432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1170432"/>
            <a:ext cx="4937760" cy="347472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216152"/>
            <a:ext cx="228600" cy="2286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315968" y="1216152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— Jest + Supertest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069080" y="16093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userController.test.js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069080" y="180136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tests — inscription, connexion, validation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069080" y="20116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cartController.test.js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069080" y="2203704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tests — ajout, mise à jour, récupération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4069080" y="24140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auth.test.js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4069080" y="2606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tests — token valide, absent, invalide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931920" y="3163824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931920" y="3163824"/>
            <a:ext cx="4937760" cy="34747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1648" y="3209544"/>
            <a:ext cx="228600" cy="22860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315968" y="320954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Vitest + Testing Library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4069080" y="36027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Title.test.jsx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4069080" y="379476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tests — affichage text1/text2, ligne déco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406908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CartTotal.test.jsx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4069080" y="41970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tests — total, frais de port, panier vide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4069080" y="44074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NewsletterBox.test.jsx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4069080" y="4599432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tests — formulaire, preventDefault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Tests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et exemple concret — middleware auth.js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170432"/>
            <a:ext cx="3200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70432"/>
            <a:ext cx="3200400" cy="34747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Résultats des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609344"/>
            <a:ext cx="29260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609344"/>
            <a:ext cx="54864" cy="40233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" y="160934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userController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160934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084832"/>
            <a:ext cx="2926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084832"/>
            <a:ext cx="54864" cy="40233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208483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cartController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208483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2560320"/>
            <a:ext cx="29260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2560320"/>
            <a:ext cx="54864" cy="40233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56032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middleware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2560320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" y="3035808"/>
            <a:ext cx="2926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1480" y="3035808"/>
            <a:ext cx="54864" cy="40233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30358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(React)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51760" y="3035808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3511296"/>
            <a:ext cx="29260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11296"/>
            <a:ext cx="54864" cy="40233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" y="351129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CartTotal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51760" y="3511296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1480" y="3986784"/>
            <a:ext cx="2926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" y="3986784"/>
            <a:ext cx="54864" cy="40233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1" name="Text 29"/>
          <p:cNvSpPr/>
          <p:nvPr/>
        </p:nvSpPr>
        <p:spPr>
          <a:xfrm>
            <a:off x="530352" y="398678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NewsletterBox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51760" y="398678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" y="4480560"/>
            <a:ext cx="2926080" cy="20116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4" name="Text 32"/>
          <p:cNvSpPr/>
          <p:nvPr/>
        </p:nvSpPr>
        <p:spPr>
          <a:xfrm>
            <a:off x="411480" y="44805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tests — 18 passed ✓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749040" y="1170432"/>
            <a:ext cx="5120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749040" y="1170432"/>
            <a:ext cx="5120640" cy="3474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0" y="12161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auth.test.js — 3 cas testés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858768" y="1591056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Cas 1 : aucun token → accès refusé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858768" y="182880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it('refuse si aucun token', async () =&gt; {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858768" y="206654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req = { headers: {}, body: {} }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858768" y="230428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authUser(req, res, mockNext)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858768" y="254203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expect(res.json).toHaveBeenCalledWith(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858768" y="2779776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success: false, message: '...' })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58768" y="301752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expect(mockNext).not.toHaveBeenCalled()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858768" y="325526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858768" y="349300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858768" y="373075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Cas 2 : token valide → accès autorisé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858768" y="3968496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it('injecte userId si token valide', async () =&gt; {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858768" y="420624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jwt.verify.mockReturnValue({ id: 'user123' })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858768" y="444398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authUser(req, res, mockNext)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858768" y="468172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expect(req.body.userId).toBe('user123')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858768" y="491947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expect(mockNext).toHaveBeenCalled()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858768" y="5157216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— RGPD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et axes d'amélioration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1556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RGPD encadre la collecte et l'utilisation des données personnelles. En tant que boutique e-commerce, Forever collecte des données sensibles qu'il faut protéger.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41148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508760"/>
            <a:ext cx="4114800" cy="347472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554480"/>
            <a:ext cx="228600" cy="228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15544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Déjà en place dans Forever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19476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 hachés (bcrypt) — jamais en clair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0" y="2276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 sensibles dans variables d'environnement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11480" y="2606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sécurisée par JWT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11480" y="29352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RGPD présent dans le footer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11480" y="32644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Paiements via Stripe (certifié PCI-DSS)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754880" y="1508760"/>
            <a:ext cx="41148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4880" y="1508760"/>
            <a:ext cx="4114800" cy="347472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554480"/>
            <a:ext cx="228600" cy="2286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138928" y="15544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À améliorer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892040" y="19476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Bandeau de consentement cookies (obligatoire)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4892040" y="2276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Politique de confidentialité complète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4892040" y="2606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à l'oubli — route DELETE /api/user/:id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4892040" y="29352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d'accès — export des données utilisateur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4892040" y="32644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de conservation des données à définir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274320" y="3840480"/>
            <a:ext cx="85953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274320" y="3840480"/>
            <a:ext cx="8595360" cy="320040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3886200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21792" y="388620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collectées par Forever et leur usage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365760" y="4224528"/>
            <a:ext cx="2084832" cy="621792"/>
          </a:xfrm>
          <a:prstGeom prst="rect">
            <a:avLst/>
          </a:prstGeom>
          <a:solidFill>
            <a:srgbClr val="D6E4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65760" y="424281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Nom, Email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365760" y="449884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 compte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2560320" y="4224528"/>
            <a:ext cx="2084832" cy="621792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2560320" y="424281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 (hashé)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2560320" y="449884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4754880" y="4224528"/>
            <a:ext cx="2084832" cy="621792"/>
          </a:xfrm>
          <a:prstGeom prst="rect">
            <a:avLst/>
          </a:prstGeom>
          <a:solidFill>
            <a:srgbClr val="D6E4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754880" y="424281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 de livraison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4754880" y="449884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commandes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6949440" y="4224528"/>
            <a:ext cx="2084832" cy="621792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6949440" y="424281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commandes</a:t>
            </a:r>
            <a:endParaRPr lang="en-US" sz="950" dirty="0"/>
          </a:p>
        </p:txBody>
      </p:sp>
      <p:sp>
        <p:nvSpPr>
          <p:cNvPr id="40" name="Text 35"/>
          <p:cNvSpPr/>
          <p:nvPr/>
        </p:nvSpPr>
        <p:spPr>
          <a:xfrm>
            <a:off x="6949440" y="449884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après-vente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53D6E"/>
          </a:solidFill>
          <a:ln w="12700">
            <a:solidFill>
              <a:srgbClr val="25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3474720"/>
            <a:ext cx="2560320" cy="2560320"/>
          </a:xfrm>
          <a:prstGeom prst="ellipse">
            <a:avLst/>
          </a:prstGeom>
          <a:solidFill>
            <a:srgbClr val="253D6E"/>
          </a:solidFill>
          <a:ln w="12700">
            <a:solidFill>
              <a:srgbClr val="253D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457200"/>
            <a:ext cx="1645920" cy="1645920"/>
          </a:xfrm>
          <a:prstGeom prst="ellipse">
            <a:avLst/>
          </a:prstGeom>
          <a:solidFill>
            <a:srgbClr val="253D6E"/>
          </a:solidFill>
          <a:ln w="12700">
            <a:solidFill>
              <a:srgbClr val="253D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48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— Conclusion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compléter par le candidat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3200400" y="1920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103120"/>
            <a:ext cx="7680960" cy="1463040"/>
          </a:xfrm>
          <a:prstGeom prst="rect">
            <a:avLst/>
          </a:prstGeom>
          <a:solidFill>
            <a:srgbClr val="1A2F55"/>
          </a:solidFill>
          <a:ln w="12700">
            <a:solidFill>
              <a:srgbClr val="2E75B6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31520" y="21031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3D5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Votre texte de conclusion ici 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730752"/>
            <a:ext cx="1920240" cy="1115568"/>
          </a:xfrm>
          <a:prstGeom prst="rect">
            <a:avLst/>
          </a:prstGeom>
          <a:solidFill>
            <a:srgbClr val="253D6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37673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43159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06040" y="3730752"/>
            <a:ext cx="1920240" cy="1115568"/>
          </a:xfrm>
          <a:prstGeom prst="rect">
            <a:avLst/>
          </a:prstGeom>
          <a:solidFill>
            <a:srgbClr val="253D6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06040" y="37673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606040" y="43159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730752"/>
            <a:ext cx="1920240" cy="1115568"/>
          </a:xfrm>
          <a:prstGeom prst="rect">
            <a:avLst/>
          </a:prstGeom>
          <a:solidFill>
            <a:srgbClr val="253D6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54880" y="37673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754880" y="43159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passés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3730752"/>
            <a:ext cx="1920240" cy="1115568"/>
          </a:xfrm>
          <a:prstGeom prst="rect">
            <a:avLst/>
          </a:prstGeom>
          <a:solidFill>
            <a:srgbClr val="253D6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37673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903720" y="43159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API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  •  github.com/yapsbjj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2976</Words>
  <Application>Microsoft Office PowerPoint</Application>
  <PresentationFormat>Affichage à l'écran (16:9)</PresentationFormat>
  <Paragraphs>515</Paragraphs>
  <Slides>28</Slides>
  <Notes>28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de Projet — Forever</dc:title>
  <dc:subject>PptxGenJS Presentation</dc:subject>
  <dc:creator>Yassine RAMDANE</dc:creator>
  <cp:lastModifiedBy>Utilisateur</cp:lastModifiedBy>
  <cp:revision>6</cp:revision>
  <dcterms:created xsi:type="dcterms:W3CDTF">2026-05-22T08:45:05Z</dcterms:created>
  <dcterms:modified xsi:type="dcterms:W3CDTF">2026-06-05T07:40:52Z</dcterms:modified>
</cp:coreProperties>
</file>