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3" r:id="rId12"/>
    <p:sldId id="270" r:id="rId13"/>
    <p:sldId id="271" r:id="rId14"/>
    <p:sldId id="284" r:id="rId15"/>
    <p:sldId id="264" r:id="rId16"/>
    <p:sldId id="282" r:id="rId17"/>
    <p:sldId id="280" r:id="rId18"/>
    <p:sldId id="265" r:id="rId19"/>
    <p:sldId id="283" r:id="rId20"/>
    <p:sldId id="266" r:id="rId21"/>
    <p:sldId id="267" r:id="rId22"/>
    <p:sldId id="272" r:id="rId23"/>
    <p:sldId id="274" r:id="rId24"/>
    <p:sldId id="275" r:id="rId25"/>
    <p:sldId id="276" r:id="rId26"/>
    <p:sldId id="277" r:id="rId27"/>
    <p:sldId id="278" r:id="rId28"/>
    <p:sldId id="279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07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06E8-7E13-388A-8945-E4FE79AE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BD360-817F-84FA-52F5-E4C2AF7A1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FBDE-03A4-06A3-3D6C-BB82DD0B8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CE14-3A4F-BD2B-F734-C5A0DE000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50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DDCE9-2E41-70D2-0FE4-4143A647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C84DC-D1F5-E51C-7401-428EF8F24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48D22-13C1-D4DA-36ED-9E99A8FDA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906CD-756C-4AA8-AD47-3C6A69E22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25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B84D3-CB97-7591-EFE3-F78E8542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980CE-0480-C932-11DD-15D68A9BB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863CD-93C1-4BE5-1339-35E20ED0D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EF715-A9F6-F408-0268-28FABD7D3B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05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3F88D-E54D-7D43-BC4E-54C48AFE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A0092-A771-A574-F96F-FB914752C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4BCFA-86C2-E7B9-7FF5-166E8E7EF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3E369-1E1F-E9C5-4B11-222E681C85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81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E-Commerce Full-Stack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4688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4688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4688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65A30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18288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Professionnel — Développeur Web et Web Mobile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RAMDANE  •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2344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personnelle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057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992" y="20574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Forever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880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8992" y="28803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stack MERN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0332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703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78992" y="3703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Versionning — Git &amp; GitHub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23444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59552" y="12344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base de données (MERISE)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0574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05740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2057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59552" y="20574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— Du panier au paiement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8036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2880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59552" y="28803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— Authentification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Présentation personnelle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34440"/>
            <a:ext cx="8412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1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55273C-863D-F148-4C8B-AD99DC52F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943" y="2853263"/>
            <a:ext cx="1512997" cy="151299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713A0F6-E34A-3BC2-AAF9-5EEFCDCB0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87" y="3011837"/>
            <a:ext cx="1695450" cy="164339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7E9A2F7-CDE0-B072-6007-5CFB2739D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980" y="2291879"/>
            <a:ext cx="1800061" cy="180006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DD0EAC3-6A6D-AE5A-0505-7BA087076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274" y="1325880"/>
            <a:ext cx="1554263" cy="180006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90B1F9D-9A34-64EE-3672-09815EC6A3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2156" y="3148762"/>
            <a:ext cx="2028497" cy="56598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A7213D0-DD70-9EA9-5234-FEED1FAE58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6374" y="3670500"/>
            <a:ext cx="1800060" cy="90003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14478EBB-346C-5479-C534-1222854FFD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461" y="2381266"/>
            <a:ext cx="1378843" cy="541184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D640C245-8328-5923-EF8E-7E7254CE5D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797955">
            <a:off x="753437" y="3221599"/>
            <a:ext cx="872892" cy="7494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Le Projet Forever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1371600"/>
          </a:xfrm>
          <a:prstGeom prst="rect">
            <a:avLst/>
          </a:prstGeom>
          <a:solidFill>
            <a:srgbClr val="E850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est une boutique de vêtements qui a besoin d'un site e-commerce pour développer ses ventes en ligne et toucher une clientèle plus large.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78892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529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d'une application web complète : boutique en ligne, espace client et panel d'administration, le tout connecté à une API REST sécurisée.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23444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234440"/>
            <a:ext cx="731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2404872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2404872"/>
            <a:ext cx="73152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770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575304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3575304"/>
            <a:ext cx="73152" cy="1005840"/>
          </a:xfrm>
          <a:prstGeom prst="rect">
            <a:avLst/>
          </a:prstGeom>
          <a:solidFill>
            <a:srgbClr val="E8500A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639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9410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Choix de la Stack MERN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choix technologique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70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362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orientée documents, parfaite pour les données e-commerce variables (produits, commandes). Hébergée sur Atlas.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990088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82696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3118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70432" y="3447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backend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38587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et flexible pour construire une API REST structurée. Gestion claire des routes et des middlewares.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46320" y="1234440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52704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50992" y="1362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650992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0" y="21031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dynamique et réactive. Context API pour l'état global (panier, auth). Composants réutilisables.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46320" y="2990088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82696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50992" y="3118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650992" y="3447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runtime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0" y="38587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côté serveur. Cohérence du langage sur toute la stack. Modèle asynchrone adapté au web.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Versionning avec Git &amp; 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code source et collaboration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Contrôle de version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084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l'historique de chaque modification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 arrière possible à tout moment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31455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pour développer sans risque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utilisées : git init, git add, git commit, git push, git pull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Hébergement distant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37760" y="2084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dépôts séparés : Backend, Frontend, Admin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sauvegardé et accessible depuis partout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937760" y="31455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commits visible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3776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des repos : github.com/yapsbjj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65760" y="46177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286000" y="46177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2514600" y="46177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24" name="Text 20"/>
          <p:cNvSpPr/>
          <p:nvPr/>
        </p:nvSpPr>
        <p:spPr>
          <a:xfrm>
            <a:off x="251460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434840" y="46177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663440" y="46177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27" name="Text 23"/>
          <p:cNvSpPr/>
          <p:nvPr/>
        </p:nvSpPr>
        <p:spPr>
          <a:xfrm>
            <a:off x="466344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583680" y="46177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812280" y="46177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Conception BDD — Modèle Conceptuel (MCD)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MERISE — Entités et relations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2194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19456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_id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386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cartData {}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1234440"/>
            <a:ext cx="2194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234440"/>
            <a:ext cx="219456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234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_id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1911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2386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[]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6616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160" y="3099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[]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3575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1234440"/>
            <a:ext cx="2194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0" y="1234440"/>
            <a:ext cx="2194560" cy="384048"/>
          </a:xfrm>
          <a:prstGeom prst="rect">
            <a:avLst/>
          </a:prstGeom>
          <a:solidFill>
            <a:srgbClr val="E8500A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1234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_id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0" y="1911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(FK)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665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[]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0" y="2386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656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 {}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0" y="3099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6656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(bool)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66560" y="3575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68880" y="2240280"/>
            <a:ext cx="5029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208483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D6E4F7"/>
          </a:solidFill>
          <a:ln/>
        </p:spPr>
      </p:sp>
      <p:sp>
        <p:nvSpPr>
          <p:cNvPr id="40" name="Text 38"/>
          <p:cNvSpPr/>
          <p:nvPr/>
        </p:nvSpPr>
        <p:spPr>
          <a:xfrm>
            <a:off x="2971800" y="2084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2240280"/>
            <a:ext cx="5029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208483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D6E4F7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2084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468880" y="2011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34640" y="2011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0" y="2011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26480" y="2011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Clé primaire    FK Clé étrangère    [] Tableau    {} Objet imbriqué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Conception BDD — Modèle Physique (MPD)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MongoDB — Structure réelle en base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834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"_id": ObjectId,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String,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String,  // unique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843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String,  // bcrypt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"cartData": { "prodId": { "taille": qty } 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630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73552" y="12344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1234440"/>
            <a:ext cx="2834640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3273552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products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"_id": ObjectId,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String,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64992" y="2450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"price": Number,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64992" y="2843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"image": [ url1, url2, ... ],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64992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"category": String,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64992" y="3630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"sizes": [ "S", "M", "L" ],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64992" y="4023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"bestseller": Boolean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64992" y="4416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72784" y="12344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72784" y="1234440"/>
            <a:ext cx="2834640" cy="347472"/>
          </a:xfrm>
          <a:prstGeom prst="rect">
            <a:avLst/>
          </a:prstGeom>
          <a:solidFill>
            <a:srgbClr val="E8500A"/>
          </a:solidFill>
          <a:ln/>
        </p:spPr>
      </p:sp>
      <p:sp>
        <p:nvSpPr>
          <p:cNvPr id="28" name="Text 26"/>
          <p:cNvSpPr/>
          <p:nvPr/>
        </p:nvSpPr>
        <p:spPr>
          <a:xfrm>
            <a:off x="6272784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orders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64224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"_id": ObjectId,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64224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String,  // ref User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64224" y="2450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 { produit, size, qty } ],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64224" y="2843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Number,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64224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"adress": { prenom, rue, ville... },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64224" y="3630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"paymentMethod": "Stripe" | "COD",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64224" y="4023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"payment": Boolean,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64224" y="4416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String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64224" y="48097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: foreverDB  •  Hébergement : MongoDB Atlas  •  ODM : Mongoose v9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Zoning de la page Login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de connexion/inscription est un composant unique qui bascule entre deux modes selon l'action de l'utilisateur.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Connexion (Login)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01952"/>
            <a:ext cx="347472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0195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+ LIGNE DÉCORATIVE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EMAIL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52928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MOT DE PASSE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3474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2841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 Mot de passe oublié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03904"/>
            <a:ext cx="3474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039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 Créer un compte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34747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793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: Se connecter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Inscription (Sign up)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1901952"/>
            <a:ext cx="347472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90195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+ LIGNE DÉCORATIVE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377440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377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NOM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852928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8529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EMAIL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328416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32841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MOT DE PASSE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803904"/>
            <a:ext cx="3474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8039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 Se connecter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4279392"/>
            <a:ext cx="34747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2793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: S'inscrire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Wireframe de la page Login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170432"/>
            <a:ext cx="3657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444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810512"/>
            <a:ext cx="822960" cy="3657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975104"/>
            <a:ext cx="3291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975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2633472"/>
            <a:ext cx="3291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633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 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219456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7490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370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Bascule via setCurrentState()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673352"/>
            <a:ext cx="27432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useState() pour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champ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73168" y="2615184"/>
            <a:ext cx="27432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event.preventDefault()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onSubmitHandler()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3291840"/>
            <a:ext cx="27432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127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localStorage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navigate('/')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final — Pages Login et Sign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le rendu réel de la page d'authentification dans le navigateur, avec les deux modes accessibles depuis le même composant.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931920" cy="32918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Login — Connexion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1952"/>
            <a:ext cx="3474720" cy="2487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1463040"/>
            <a:ext cx="393192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63040"/>
            <a:ext cx="3931920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Sign up — Inscription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901952"/>
            <a:ext cx="3474720" cy="2761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16" name="Text 12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 seul composant Login.jsx  •  Bascule via useState('Login' | 'Sign up')  •  Token JWT stocké dans localStorage  •  Redirection automatique vers '/'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Code Frontend (Login.jsx)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8595360" cy="3657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252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216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Login.jsx — Connexion &amp; Inscription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6184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[currentState, setCurrentState] = useState('Login') // 'Login' ou 'Sign up'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18562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09397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onSubmitHandler = async (event) =&gt; {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23317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256946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(currentState === 'Sign up') {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" y="28072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axios.post(backendUrl + '/api/user/register', {name, email, password})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1480" y="30449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(res.data.success) {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" y="328269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setToken(res.data.token)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3520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localStorage.setItem('token', res.data.token)  // Persistance session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11480" y="375818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11480" y="3995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1480" y="42336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axios.post(backendUrl + '/api/user/login', {email, password})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11480" y="447141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(res.data.success) { setToken(res.data.token) }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1480" y="47091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" y="494690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Code Backend (userController + middleware)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70432"/>
            <a:ext cx="1554480" cy="658368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/login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83080" y="1325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93392" y="1170432"/>
            <a:ext cx="1554480" cy="658368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mdp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47872" y="1325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58184" y="1170432"/>
            <a:ext cx="1554480" cy="658368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58184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compare()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12664" y="1325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22976" y="1170432"/>
            <a:ext cx="1554480" cy="658368"/>
          </a:xfrm>
          <a:prstGeom prst="rect">
            <a:avLst/>
          </a:prstGeom>
          <a:solidFill>
            <a:srgbClr val="1F386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22976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jwt.sign()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généré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77456" y="1325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87768" y="1170432"/>
            <a:ext cx="1554480" cy="658368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87768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success: true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'...' 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99339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993392"/>
            <a:ext cx="4114800" cy="32918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9933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userController.js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404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Inscription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salt = await bcrypt.genSalt(10)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953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hashed = await bcrypt.hash(password, salt)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new userModel({name,email,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hashed })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user.save()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jwt.sign({id}, JWT_SECRET)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res.json({ success: true, token })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99339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993392"/>
            <a:ext cx="411480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9933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auth.js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2404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Protège les routes privées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token } = req.headers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2953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(!token) return res.json(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success: false })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decoded = jwt.verify(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token, JWT_SECRET)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req.body.userId = decoded.id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next() // Accès autorisé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16BD6-C38D-FBA5-265A-19AFCFBA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9474C2-2B39-FCB2-AEB5-8729BEFC0681}"/>
              </a:ext>
            </a:extLst>
          </p:cNvPr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354699-C45B-32D5-E979-C6A463AAD898}"/>
              </a:ext>
            </a:extLst>
          </p:cNvPr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A63F0C-C541-F27C-4D90-71690A3D5BF5}"/>
              </a:ext>
            </a:extLst>
          </p:cNvPr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Base de données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46A4D9-6C30-1A9E-8E06-0A179B9F1212}"/>
              </a:ext>
            </a:extLst>
          </p:cNvPr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99AFC1-0E0F-79D4-7B50-9DA0E5933AA6}"/>
              </a:ext>
            </a:extLst>
          </p:cNvPr>
          <p:cNvSpPr/>
          <p:nvPr/>
        </p:nvSpPr>
        <p:spPr>
          <a:xfrm>
            <a:off x="274320" y="1170432"/>
            <a:ext cx="8595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43EF7A-53C3-037B-C0FD-2B2B22ABF649}"/>
              </a:ext>
            </a:extLst>
          </p:cNvPr>
          <p:cNvSpPr/>
          <p:nvPr/>
        </p:nvSpPr>
        <p:spPr>
          <a:xfrm>
            <a:off x="274320" y="1170432"/>
            <a:ext cx="8595360" cy="3657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195B04C2-1F2A-FD9B-1233-E87FF21D0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25296"/>
            <a:ext cx="228600" cy="22860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43F45516-8946-64E6-72B9-33409F9DE819}"/>
              </a:ext>
            </a:extLst>
          </p:cNvPr>
          <p:cNvSpPr/>
          <p:nvPr/>
        </p:nvSpPr>
        <p:spPr>
          <a:xfrm>
            <a:off x="658368" y="1216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MongoDB Atlas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38791F0-6189-4561-BAAA-A8B04FD6709E}"/>
              </a:ext>
            </a:extLst>
          </p:cNvPr>
          <p:cNvSpPr/>
          <p:nvPr/>
        </p:nvSpPr>
        <p:spPr>
          <a:xfrm>
            <a:off x="411480" y="16184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1B3C609-F34E-22F8-5CA9-87D59C1955CE}"/>
              </a:ext>
            </a:extLst>
          </p:cNvPr>
          <p:cNvSpPr/>
          <p:nvPr/>
        </p:nvSpPr>
        <p:spPr>
          <a:xfrm>
            <a:off x="411480" y="18562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33A3C16-DEFB-BD12-4CFC-41B8EFA403B6}"/>
              </a:ext>
            </a:extLst>
          </p:cNvPr>
          <p:cNvSpPr/>
          <p:nvPr/>
        </p:nvSpPr>
        <p:spPr>
          <a:xfrm>
            <a:off x="411480" y="209397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8C39424-CB8F-268A-855A-40DE72BA12ED}"/>
              </a:ext>
            </a:extLst>
          </p:cNvPr>
          <p:cNvSpPr/>
          <p:nvPr/>
        </p:nvSpPr>
        <p:spPr>
          <a:xfrm>
            <a:off x="411480" y="23317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1AB19D9-300C-4FFF-2192-14FC9BD1003B}"/>
              </a:ext>
            </a:extLst>
          </p:cNvPr>
          <p:cNvSpPr/>
          <p:nvPr/>
        </p:nvSpPr>
        <p:spPr>
          <a:xfrm>
            <a:off x="411480" y="256946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98438FB-480D-760F-CD56-9E689CD0920B}"/>
              </a:ext>
            </a:extLst>
          </p:cNvPr>
          <p:cNvSpPr/>
          <p:nvPr/>
        </p:nvSpPr>
        <p:spPr>
          <a:xfrm>
            <a:off x="411480" y="28072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A606AED-7A19-7C87-B0C7-E84DF6CFC9E9}"/>
              </a:ext>
            </a:extLst>
          </p:cNvPr>
          <p:cNvSpPr/>
          <p:nvPr/>
        </p:nvSpPr>
        <p:spPr>
          <a:xfrm>
            <a:off x="411480" y="30449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862630E-40E8-C692-12B2-517318ECF8E2}"/>
              </a:ext>
            </a:extLst>
          </p:cNvPr>
          <p:cNvSpPr/>
          <p:nvPr/>
        </p:nvSpPr>
        <p:spPr>
          <a:xfrm>
            <a:off x="411480" y="328269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CC22050-51E4-1CE2-8300-643C38033CBA}"/>
              </a:ext>
            </a:extLst>
          </p:cNvPr>
          <p:cNvSpPr/>
          <p:nvPr/>
        </p:nvSpPr>
        <p:spPr>
          <a:xfrm>
            <a:off x="411480" y="3520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0538A83-B952-4B5D-F5AA-A6CAD96586B8}"/>
              </a:ext>
            </a:extLst>
          </p:cNvPr>
          <p:cNvSpPr/>
          <p:nvPr/>
        </p:nvSpPr>
        <p:spPr>
          <a:xfrm>
            <a:off x="411480" y="375818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7EF9A15-8A18-6D4C-AB76-8ED73B44FC22}"/>
              </a:ext>
            </a:extLst>
          </p:cNvPr>
          <p:cNvSpPr/>
          <p:nvPr/>
        </p:nvSpPr>
        <p:spPr>
          <a:xfrm>
            <a:off x="411480" y="3995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4755D7E-0627-A601-52DF-32113DF71BC7}"/>
              </a:ext>
            </a:extLst>
          </p:cNvPr>
          <p:cNvSpPr/>
          <p:nvPr/>
        </p:nvSpPr>
        <p:spPr>
          <a:xfrm>
            <a:off x="411480" y="42336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65996D9-D5BD-ED11-89FA-8476727C23B4}"/>
              </a:ext>
            </a:extLst>
          </p:cNvPr>
          <p:cNvSpPr/>
          <p:nvPr/>
        </p:nvSpPr>
        <p:spPr>
          <a:xfrm>
            <a:off x="411480" y="447141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120FD36-8548-60C9-9277-15EC98CE5776}"/>
              </a:ext>
            </a:extLst>
          </p:cNvPr>
          <p:cNvSpPr/>
          <p:nvPr/>
        </p:nvSpPr>
        <p:spPr>
          <a:xfrm>
            <a:off x="411480" y="47091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C0FE4BF6-7498-5CB8-B64A-E12DEF199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1" y="1554480"/>
            <a:ext cx="8595360" cy="305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30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Zoning de l'interface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zoning définit les grandes zones fonctionnelles de chaque page avant de commencer le design.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834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Catalogue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(logo + nav + search + cart)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256032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(catégorie, sous-cat, tri)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PRODUITS (2 à 5 col.)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65760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417320"/>
            <a:ext cx="2834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Produit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187452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10712" y="246888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IMAGES (gauche)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10712" y="306324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PRODUIT (droite : nom, prix, tailles, bouton)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0712" y="365760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SIMILAIRES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425196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72784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72784" y="1417320"/>
            <a:ext cx="2834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Panier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9944" y="187452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9944" y="246888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ARTICLES (image, nom, taille, qté, prix)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9944" y="3063240"/>
            <a:ext cx="256032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TOTAL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9944" y="365760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9944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PAIEMENT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9944" y="425196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9944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9658A-D13B-9F74-D98C-8908EDD6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2162F0-A013-57DC-3693-D89CE6BAE0CC}"/>
              </a:ext>
            </a:extLst>
          </p:cNvPr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490228-7AF5-D28A-6D36-16C443215DCF}"/>
              </a:ext>
            </a:extLst>
          </p:cNvPr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4AA616-B943-2E37-5735-49B7593203AC}"/>
              </a:ext>
            </a:extLst>
          </p:cNvPr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BB7A3F-A90F-75AE-85A4-3101C11650BC}"/>
              </a:ext>
            </a:extLst>
          </p:cNvPr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1B0219-4DE2-DD62-B459-838CAF80CD3C}"/>
              </a:ext>
            </a:extLst>
          </p:cNvPr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zoning définit les grandes zones fonctionnelles de chaque page avant de commencer le design.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FC6253B-1300-F947-7F55-2E48087464BF}"/>
              </a:ext>
            </a:extLst>
          </p:cNvPr>
          <p:cNvSpPr/>
          <p:nvPr/>
        </p:nvSpPr>
        <p:spPr>
          <a:xfrm>
            <a:off x="274320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A3E936D-04A7-B770-EBFF-F8BCAFD8DD41}"/>
              </a:ext>
            </a:extLst>
          </p:cNvPr>
          <p:cNvSpPr/>
          <p:nvPr/>
        </p:nvSpPr>
        <p:spPr>
          <a:xfrm>
            <a:off x="274320" y="1417320"/>
            <a:ext cx="850392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8B7294-4F67-C393-B7C4-D04A17E01B60}"/>
              </a:ext>
            </a:extLst>
          </p:cNvPr>
          <p:cNvSpPr/>
          <p:nvPr/>
        </p:nvSpPr>
        <p:spPr>
          <a:xfrm>
            <a:off x="274320" y="14173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Page Catalogue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2D2939-3EB3-159C-1411-21751A3C4E56}"/>
              </a:ext>
            </a:extLst>
          </p:cNvPr>
          <p:cNvSpPr/>
          <p:nvPr/>
        </p:nvSpPr>
        <p:spPr>
          <a:xfrm>
            <a:off x="411480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B5965A-37F0-DF0A-BBFE-2770B9B3F58C}"/>
              </a:ext>
            </a:extLst>
          </p:cNvPr>
          <p:cNvSpPr/>
          <p:nvPr/>
        </p:nvSpPr>
        <p:spPr>
          <a:xfrm>
            <a:off x="411480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B8FC8D-9C3A-F650-54B9-134CF930918E}"/>
              </a:ext>
            </a:extLst>
          </p:cNvPr>
          <p:cNvSpPr/>
          <p:nvPr/>
        </p:nvSpPr>
        <p:spPr>
          <a:xfrm>
            <a:off x="411480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08CF2DA-E2BC-83A7-1B47-3706B8CCF1E3}"/>
              </a:ext>
            </a:extLst>
          </p:cNvPr>
          <p:cNvSpPr/>
          <p:nvPr/>
        </p:nvSpPr>
        <p:spPr>
          <a:xfrm>
            <a:off x="3273552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A442093-2012-81A9-1E36-8BC82E493A59}"/>
              </a:ext>
            </a:extLst>
          </p:cNvPr>
          <p:cNvSpPr/>
          <p:nvPr/>
        </p:nvSpPr>
        <p:spPr>
          <a:xfrm>
            <a:off x="3410712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AD2A05D-A65C-B4AA-463C-C6EF517CCEBA}"/>
              </a:ext>
            </a:extLst>
          </p:cNvPr>
          <p:cNvSpPr/>
          <p:nvPr/>
        </p:nvSpPr>
        <p:spPr>
          <a:xfrm>
            <a:off x="3410712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90543EC-98A6-B978-DDE9-21E720790BE8}"/>
              </a:ext>
            </a:extLst>
          </p:cNvPr>
          <p:cNvSpPr/>
          <p:nvPr/>
        </p:nvSpPr>
        <p:spPr>
          <a:xfrm>
            <a:off x="3410712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98E133E-9639-3670-2945-74E985A41C0E}"/>
              </a:ext>
            </a:extLst>
          </p:cNvPr>
          <p:cNvSpPr/>
          <p:nvPr/>
        </p:nvSpPr>
        <p:spPr>
          <a:xfrm>
            <a:off x="3410712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69BE18F-45FC-8692-E2A4-8EC89BB7314A}"/>
              </a:ext>
            </a:extLst>
          </p:cNvPr>
          <p:cNvSpPr/>
          <p:nvPr/>
        </p:nvSpPr>
        <p:spPr>
          <a:xfrm>
            <a:off x="3410712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0BEAFB1-B523-76FB-B922-3EBA925DB712}"/>
              </a:ext>
            </a:extLst>
          </p:cNvPr>
          <p:cNvSpPr/>
          <p:nvPr/>
        </p:nvSpPr>
        <p:spPr>
          <a:xfrm>
            <a:off x="6272784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4FBCFEF-4294-B15D-CEEF-4A8D1F82F515}"/>
              </a:ext>
            </a:extLst>
          </p:cNvPr>
          <p:cNvSpPr/>
          <p:nvPr/>
        </p:nvSpPr>
        <p:spPr>
          <a:xfrm>
            <a:off x="6409944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4FEE125-2130-AA3D-93D8-09FB0941903A}"/>
              </a:ext>
            </a:extLst>
          </p:cNvPr>
          <p:cNvSpPr/>
          <p:nvPr/>
        </p:nvSpPr>
        <p:spPr>
          <a:xfrm>
            <a:off x="6409944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5882B00-E342-EA7D-B034-F4C859B8960C}"/>
              </a:ext>
            </a:extLst>
          </p:cNvPr>
          <p:cNvSpPr/>
          <p:nvPr/>
        </p:nvSpPr>
        <p:spPr>
          <a:xfrm>
            <a:off x="6409944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CEFBB0A-93F9-9079-C303-70ABD52EC9E4}"/>
              </a:ext>
            </a:extLst>
          </p:cNvPr>
          <p:cNvSpPr/>
          <p:nvPr/>
        </p:nvSpPr>
        <p:spPr>
          <a:xfrm>
            <a:off x="6409944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A356EC75-E7B0-26C9-6FB4-F88E4576ACF8}"/>
              </a:ext>
            </a:extLst>
          </p:cNvPr>
          <p:cNvSpPr/>
          <p:nvPr/>
        </p:nvSpPr>
        <p:spPr>
          <a:xfrm>
            <a:off x="6409944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D77F1B98-CBF3-1447-7933-123BCFFCD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1764791"/>
            <a:ext cx="8458201" cy="31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5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A9B3C-66EF-38BB-99DF-9D0D43C08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0687A3-50BE-3422-4FAD-33532A904282}"/>
              </a:ext>
            </a:extLst>
          </p:cNvPr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FCF528-A6C8-A54B-EF5F-59A5296C5A99}"/>
              </a:ext>
            </a:extLst>
          </p:cNvPr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A67AD1-C501-F86D-D5D0-F89438E80353}"/>
              </a:ext>
            </a:extLst>
          </p:cNvPr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 de l'interface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71A9F0-06B4-2A56-35F8-60A21E468F22}"/>
              </a:ext>
            </a:extLst>
          </p:cNvPr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FBCA10-F236-D0F5-5FA4-77BCD7C9B0E4}"/>
              </a:ext>
            </a:extLst>
          </p:cNvPr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zoning définit les grandes zones fonctionnelles de chaque page avant de commencer le design.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56C637-9BE9-11FA-5878-3965A8D4A835}"/>
              </a:ext>
            </a:extLst>
          </p:cNvPr>
          <p:cNvSpPr/>
          <p:nvPr/>
        </p:nvSpPr>
        <p:spPr>
          <a:xfrm>
            <a:off x="27432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Cata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DEBEE98-46D2-812D-405D-CCFE3B5373AF}"/>
              </a:ext>
            </a:extLst>
          </p:cNvPr>
          <p:cNvSpPr/>
          <p:nvPr/>
        </p:nvSpPr>
        <p:spPr>
          <a:xfrm>
            <a:off x="411480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F71A8E-3B80-5239-2C9B-59B3443C17D5}"/>
              </a:ext>
            </a:extLst>
          </p:cNvPr>
          <p:cNvSpPr/>
          <p:nvPr/>
        </p:nvSpPr>
        <p:spPr>
          <a:xfrm>
            <a:off x="411480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F67B2E-8F0C-8A03-1EE3-CBB11E245182}"/>
              </a:ext>
            </a:extLst>
          </p:cNvPr>
          <p:cNvSpPr/>
          <p:nvPr/>
        </p:nvSpPr>
        <p:spPr>
          <a:xfrm>
            <a:off x="411480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2711B5D-85B4-455C-0CDC-20E2DFA58717}"/>
              </a:ext>
            </a:extLst>
          </p:cNvPr>
          <p:cNvSpPr/>
          <p:nvPr/>
        </p:nvSpPr>
        <p:spPr>
          <a:xfrm>
            <a:off x="365760" y="1417320"/>
            <a:ext cx="8366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9F9D59B-E8EB-55FA-AC93-3E1C5AC8E008}"/>
              </a:ext>
            </a:extLst>
          </p:cNvPr>
          <p:cNvSpPr/>
          <p:nvPr/>
        </p:nvSpPr>
        <p:spPr>
          <a:xfrm>
            <a:off x="365760" y="1417320"/>
            <a:ext cx="836676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7F3FF94-AC4D-CA03-7658-A5D1187A09EC}"/>
              </a:ext>
            </a:extLst>
          </p:cNvPr>
          <p:cNvSpPr/>
          <p:nvPr/>
        </p:nvSpPr>
        <p:spPr>
          <a:xfrm>
            <a:off x="3273552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Produit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688201D-1CBC-608D-4233-EB36B47ED714}"/>
              </a:ext>
            </a:extLst>
          </p:cNvPr>
          <p:cNvSpPr/>
          <p:nvPr/>
        </p:nvSpPr>
        <p:spPr>
          <a:xfrm>
            <a:off x="3410712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6D8DBE2-AFF9-F4AB-44E6-C4601FF88FC8}"/>
              </a:ext>
            </a:extLst>
          </p:cNvPr>
          <p:cNvSpPr/>
          <p:nvPr/>
        </p:nvSpPr>
        <p:spPr>
          <a:xfrm>
            <a:off x="3410712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2399578-50D3-4F36-72DC-50DCF2620FF3}"/>
              </a:ext>
            </a:extLst>
          </p:cNvPr>
          <p:cNvSpPr/>
          <p:nvPr/>
        </p:nvSpPr>
        <p:spPr>
          <a:xfrm>
            <a:off x="3410712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B04B557-DC74-CD6E-4960-AB9BD59507CF}"/>
              </a:ext>
            </a:extLst>
          </p:cNvPr>
          <p:cNvSpPr/>
          <p:nvPr/>
        </p:nvSpPr>
        <p:spPr>
          <a:xfrm>
            <a:off x="3410712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43E1424-F57B-A5E1-B76E-32CBD56144AB}"/>
              </a:ext>
            </a:extLst>
          </p:cNvPr>
          <p:cNvSpPr/>
          <p:nvPr/>
        </p:nvSpPr>
        <p:spPr>
          <a:xfrm>
            <a:off x="3410712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A249DDF-D782-A528-B38D-4DFC08115C92}"/>
              </a:ext>
            </a:extLst>
          </p:cNvPr>
          <p:cNvSpPr/>
          <p:nvPr/>
        </p:nvSpPr>
        <p:spPr>
          <a:xfrm>
            <a:off x="6272784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DB3CE4C-8A55-033D-F162-57047DEE269B}"/>
              </a:ext>
            </a:extLst>
          </p:cNvPr>
          <p:cNvSpPr/>
          <p:nvPr/>
        </p:nvSpPr>
        <p:spPr>
          <a:xfrm>
            <a:off x="6409944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49F4CC3-A4EA-DEFB-98D8-10C0BB2E4A03}"/>
              </a:ext>
            </a:extLst>
          </p:cNvPr>
          <p:cNvSpPr/>
          <p:nvPr/>
        </p:nvSpPr>
        <p:spPr>
          <a:xfrm>
            <a:off x="6409944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B394535-94C9-5DEB-1910-03FEE4F7E49F}"/>
              </a:ext>
            </a:extLst>
          </p:cNvPr>
          <p:cNvSpPr/>
          <p:nvPr/>
        </p:nvSpPr>
        <p:spPr>
          <a:xfrm>
            <a:off x="6409944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0A51588-A7DE-1E15-6828-1D511F278B29}"/>
              </a:ext>
            </a:extLst>
          </p:cNvPr>
          <p:cNvSpPr/>
          <p:nvPr/>
        </p:nvSpPr>
        <p:spPr>
          <a:xfrm>
            <a:off x="6409944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1B448C7-175F-D0BB-1B67-8250AF1D633A}"/>
              </a:ext>
            </a:extLst>
          </p:cNvPr>
          <p:cNvSpPr/>
          <p:nvPr/>
        </p:nvSpPr>
        <p:spPr>
          <a:xfrm>
            <a:off x="6409944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DCB8A230-5B90-7D47-59FF-7ADC9756E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64792"/>
            <a:ext cx="8366760" cy="335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723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Wireframe de la page Panier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47548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75488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Panier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44805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84248"/>
            <a:ext cx="502920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842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[img]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produit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• Taille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2057400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Qté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44805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34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Sous-total : 50.00€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port : 10.00€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60.00€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133088"/>
            <a:ext cx="448056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133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PROCÉDER AU PAIEMENT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38928" y="1554480"/>
            <a:ext cx="18288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updateQuantity()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temps réel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38928" y="2423160"/>
            <a:ext cx="18288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getCartAmount()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delivery_fee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38928" y="3429000"/>
            <a:ext cx="18288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navigate('/place-order')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180E0-0A58-C932-07B0-6030988E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6EAE5C-CED1-7389-4C9F-CEA7B3D066ED}"/>
              </a:ext>
            </a:extLst>
          </p:cNvPr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C694D1-3F42-04A5-98DC-FDE7CE3557E5}"/>
              </a:ext>
            </a:extLst>
          </p:cNvPr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4ADCA6-2F9E-CC72-A4C5-ABE25416760D}"/>
              </a:ext>
            </a:extLst>
          </p:cNvPr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 de la page Panier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F4EF007-CF78-3C79-7F44-8A1D0DB3219C}"/>
              </a:ext>
            </a:extLst>
          </p:cNvPr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A162773-D585-A463-BEB7-615C0EE47BC0}"/>
              </a:ext>
            </a:extLst>
          </p:cNvPr>
          <p:cNvSpPr/>
          <p:nvPr/>
        </p:nvSpPr>
        <p:spPr>
          <a:xfrm>
            <a:off x="365760" y="1188720"/>
            <a:ext cx="47548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C92E57-B0B5-D39C-73CC-A970768C2D68}"/>
              </a:ext>
            </a:extLst>
          </p:cNvPr>
          <p:cNvSpPr/>
          <p:nvPr/>
        </p:nvSpPr>
        <p:spPr>
          <a:xfrm>
            <a:off x="365760" y="1188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9C32767-846D-DE8E-EDE9-39262C6EECE9}"/>
              </a:ext>
            </a:extLst>
          </p:cNvPr>
          <p:cNvSpPr/>
          <p:nvPr/>
        </p:nvSpPr>
        <p:spPr>
          <a:xfrm>
            <a:off x="5486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E9F5A8-80E1-9B79-675D-05144ED29015}"/>
              </a:ext>
            </a:extLst>
          </p:cNvPr>
          <p:cNvSpPr/>
          <p:nvPr/>
        </p:nvSpPr>
        <p:spPr>
          <a:xfrm>
            <a:off x="548640" y="19842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CF08A4-DECF-B77D-FEF8-C4CDFB2C7B2C}"/>
              </a:ext>
            </a:extLst>
          </p:cNvPr>
          <p:cNvSpPr/>
          <p:nvPr/>
        </p:nvSpPr>
        <p:spPr>
          <a:xfrm>
            <a:off x="114300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138FF9F-EEED-66E2-E2E0-7AF3EDFB48CA}"/>
              </a:ext>
            </a:extLst>
          </p:cNvPr>
          <p:cNvSpPr/>
          <p:nvPr/>
        </p:nvSpPr>
        <p:spPr>
          <a:xfrm>
            <a:off x="356616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FF9C8E5-6CE7-7528-2BB9-484257B31F4D}"/>
              </a:ext>
            </a:extLst>
          </p:cNvPr>
          <p:cNvSpPr/>
          <p:nvPr/>
        </p:nvSpPr>
        <p:spPr>
          <a:xfrm>
            <a:off x="457200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BA920A8-3BA3-E467-2717-3732E28977C1}"/>
              </a:ext>
            </a:extLst>
          </p:cNvPr>
          <p:cNvSpPr/>
          <p:nvPr/>
        </p:nvSpPr>
        <p:spPr>
          <a:xfrm>
            <a:off x="640080" y="2834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F0C7644-5691-34AE-3D08-A7E1FFDB8318}"/>
              </a:ext>
            </a:extLst>
          </p:cNvPr>
          <p:cNvSpPr/>
          <p:nvPr/>
        </p:nvSpPr>
        <p:spPr>
          <a:xfrm>
            <a:off x="502920" y="4133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99F560C-F072-0B73-03E0-D4175C1410B8}"/>
              </a:ext>
            </a:extLst>
          </p:cNvPr>
          <p:cNvSpPr/>
          <p:nvPr/>
        </p:nvSpPr>
        <p:spPr>
          <a:xfrm>
            <a:off x="5138928" y="2423160"/>
            <a:ext cx="18288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7311C4D-83AF-DCF0-3960-899EC7A22840}"/>
              </a:ext>
            </a:extLst>
          </p:cNvPr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044F738-6D6C-686A-1EF9-F45051F6E254}"/>
              </a:ext>
            </a:extLst>
          </p:cNvPr>
          <p:cNvSpPr/>
          <p:nvPr/>
        </p:nvSpPr>
        <p:spPr>
          <a:xfrm>
            <a:off x="5138928" y="3429000"/>
            <a:ext cx="18288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2858C5D-9607-041A-813E-189F604B0E51}"/>
              </a:ext>
            </a:extLst>
          </p:cNvPr>
          <p:cNvSpPr/>
          <p:nvPr/>
        </p:nvSpPr>
        <p:spPr>
          <a:xfrm>
            <a:off x="530352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C86574FE-9BE3-689F-1015-90409DE9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6749743" cy="3858641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69236F0F-B3C6-62AF-3AB8-BB8C8CA36BA0}"/>
              </a:ext>
            </a:extLst>
          </p:cNvPr>
          <p:cNvSpPr/>
          <p:nvPr/>
        </p:nvSpPr>
        <p:spPr>
          <a:xfrm>
            <a:off x="5303520" y="1627632"/>
            <a:ext cx="3474720" cy="200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updateQuantity()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temps réel</a:t>
            </a:r>
            <a:endParaRPr lang="en-US" sz="100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BEB0D8BB-B9FD-7AFA-0CB8-011EB96F7445}"/>
              </a:ext>
            </a:extLst>
          </p:cNvPr>
          <p:cNvSpPr/>
          <p:nvPr/>
        </p:nvSpPr>
        <p:spPr>
          <a:xfrm>
            <a:off x="6274676" y="3163825"/>
            <a:ext cx="2655963" cy="100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getCartAmount()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delivery_fee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57504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Code Frontend (React)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5272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ShopContext.jsx — Gestion du panier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Structure : { itemId: { size: qty } }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2048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addToCart = async (itemId, size) =&gt; {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cartData = structuredClone(cartItems)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cartData[itemId][size] +=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setCartItems(cartData)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axios.post('/api/cart/add',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3968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{itemId, size}, {headers:{token}})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352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PlaceOrder.jsx — Validation commande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Stripe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4880" y="2048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axios.post(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54880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'/api/order/stripe',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5488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adress, items, amount },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5488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headers: { token } }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488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54880" y="3968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window.location.replace(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54880" y="4352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res.data.session_url)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Code Backend (Express + Stripe)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88720"/>
            <a:ext cx="1554480" cy="685800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/api/order/stripe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3080" y="1353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188720"/>
            <a:ext cx="1554480" cy="68580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JWT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47872" y="1353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58184" y="1188720"/>
            <a:ext cx="1554480" cy="685800"/>
          </a:xfrm>
          <a:prstGeom prst="rect">
            <a:avLst/>
          </a:prstGeom>
          <a:solidFill>
            <a:srgbClr val="1F386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placeOrderStripe()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58184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commande en BDD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12664" y="1353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2976" y="1188720"/>
            <a:ext cx="1554480" cy="685800"/>
          </a:xfrm>
          <a:prstGeom prst="rect">
            <a:avLst/>
          </a:prstGeom>
          <a:solidFill>
            <a:srgbClr val="635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22976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Checkout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77456" y="1353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87768" y="1188720"/>
            <a:ext cx="1554480" cy="68580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87768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verifyStripe()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87768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paiement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057400"/>
            <a:ext cx="8595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057400"/>
            <a:ext cx="8595360" cy="347472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0080" y="2103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orderControler.js — placeOrderStripe() &amp; verifyStripe()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2487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session = await stripe.checkout.sessions.create({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28072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success_url: `${origin}/verify?success=true&amp;orderId=${newOrder._id}`,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7200" y="3127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cancel_url:  `${origin}/verify?success=false&amp;orderId=${newOrder._id}`,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3447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line_items, mode: 'payment'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57200" y="4087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verifyStripe : si success === 'true' → payment:true + vider panier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sinon → supprimer la commande en base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— Optimisation SEO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SEO permet à la boutique Forever d'être visible sur Google. Voici les optimisations appliquées au projet.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411480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— SPA React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Toutes les pages partagent le même &lt;title&gt;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Contenu rendu côté client (JavaScript)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478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peut avoir du mal à tout indexer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411480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 — react-helmet-async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Titre dynamique unique par page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Balises meta description personnalisées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478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Balises Open Graph pour les réseaux sociaux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99232"/>
            <a:ext cx="5029200" cy="320040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44952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60" y="3044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Balises méta ajoutées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11480" y="34015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name="description" content="Forever..." /&gt;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" y="3694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property="og:title" content="Forever" /&gt;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3986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property="og:image" content="/og-image.jpg" /&gt;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11480" y="4279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name="robots" content="index, follow" /&gt;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11480" y="4572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rel="canonical" href="https://forever.com" /&gt;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577840" y="2999232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577840" y="2999232"/>
            <a:ext cx="3291840" cy="32004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044952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897880" y="3044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lisibles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623560" y="3401568"/>
            <a:ext cx="3200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50992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40664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623560" y="3694176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650992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/collection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40664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623560" y="3986784"/>
            <a:ext cx="3200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650992" y="3986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/product/:id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7406640" y="398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623560" y="4279392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650992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740664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623560" y="4572000"/>
            <a:ext cx="3200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650992" y="457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/contact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406640" y="4572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Sécurité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principales menaces et comment s'en protéger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38912" cy="6949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2435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NoSQL / 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4813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 code malveillant dans les champs pour manipuler la base de données et accéder à des données non autorisées.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15968" y="1225296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243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07408" y="14447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impose des types stricts (String, Number). validator.js vérifie le format. Aucune requête SQL brute — Mongoose sert d'ODM protecteur.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38528"/>
            <a:ext cx="438912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93852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20116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compromise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2494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de token, mot de passe stocké en clair ou session sans expiration permettant un accès permanent non autorisé aux comptes.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15968" y="1993392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407408" y="2011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07408" y="2212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 avec bcrypt (salt 10 tours). JWT signé avec secret sécurisé. Middlewares auth.js et adminAuth.js séparant les droits user/admin.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70662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06624"/>
            <a:ext cx="438912" cy="6949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70662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2779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de données sensibles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API, credentials et secrets exposés dans le code source ou sur GitHub permettant l'accès non autorisé aux services tiers.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15968" y="2761488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2779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07408" y="29809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clés (JWT, Stripe, Cloudinary, MongoDB) stockées en variables d'environnement. Fichier .env dans .gitignore, jamais commité.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47472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474720"/>
            <a:ext cx="438912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47472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" y="35478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DDoS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37856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du serveur par un volume massif de requêtes simultanées rendant l'application indisponible pour les vrais utilisateurs.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15968" y="3529584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407408" y="3547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07408" y="3749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Vercel (CDN mondial + protection DDoS intégrée). CORS configuré pour autoriser uniquement les origines connues. Rate limiting à implémenter.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24281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242816"/>
            <a:ext cx="438912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24281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" y="43159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" y="4553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malveillant qui chiffre les données de l'application ou de la base de données et exige une rançon pour les restituer.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15968" y="4297680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4407408" y="4315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407408" y="45171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sur MongoDB Atlas (sauvegardes automatiques quotidiennes, chiffrement au repos). Code source versionné sur GitHub (récupération possible à tout moment).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Sécurité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technique dans le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14800" cy="32918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700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Hachage des mots de passe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1572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salt = await bcrypt.genSalt(10)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hashed = await bcrypt.hash(password, salt)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2677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Vérification : bcrypt.compare(mdp, hash)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17043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170432"/>
            <a:ext cx="4114800" cy="32918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07008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02352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Authentification stateless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92040" y="1572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Génération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92040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jwt.sign({id}, process.env.JWT_SECRET)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92040" y="22677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Vérification middleware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92040" y="2615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jwt.verify(token, process.env.JWT_SECRET)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74320" y="2871216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2871216"/>
            <a:ext cx="4114800" cy="32918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90779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" y="2907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— Variables d'environnement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11480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JWT_SECRET=xxxxx  // jamais en dur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11480" y="3547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STRIPE_SECRET_KEY=sk_live_xxx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1148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MONGODB_URI=mongodb+srv://...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11480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 → .env non commité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754880" y="2871216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54880" y="2871216"/>
            <a:ext cx="4114800" cy="329184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90779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02352" y="2907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+ Ransomware + CORS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892040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CORS — origines autorisées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892040" y="3493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app.use(cors())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892040" y="3730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DDoS → Vercel CDN + protection native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892040" y="3968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Ransomware → Atlas backups auto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892040" y="4206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GitHub → code récupérable à tout moment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39" name="Text 33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À améliorer : JWT expiresIn: '7d'  •  express-rate-limit (anti DDoS applicatif)  •  Helmet.js (headers HTTP sécurisés)  •  express-validator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et outils mis en place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Pyramide des tests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566160"/>
            <a:ext cx="32004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(base — Jest / Vitest)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944368"/>
            <a:ext cx="246888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443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 (Supertest)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51560" y="2331720"/>
            <a:ext cx="173736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composants (Testing Library)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80160" y="1719072"/>
            <a:ext cx="12801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17190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(futur)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1170432"/>
            <a:ext cx="4937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170432"/>
            <a:ext cx="4937760" cy="347472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216152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15968" y="12161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Jest + Supertest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069080" y="1609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userController.test.js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069080" y="18013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— inscription, connexion, validation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069080" y="2011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cartController.test.js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069080" y="22037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— ajout, mise à jour, récupération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069080" y="2414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auth.test.js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069080" y="2606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— token valide, absent, invalide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931920" y="3163824"/>
            <a:ext cx="4937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931920" y="3163824"/>
            <a:ext cx="4937760" cy="34747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3209544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315968" y="32095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Vitest + Testing Library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069080" y="3602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Title.test.jsx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069080" y="37947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 — affichage text1/text2, ligne déco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069080" y="4005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CartTotal.test.jsx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069080" y="41970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— total, frais de port, panier vide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069080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NewsletterBox.test.jsx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069080" y="45994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 — formulaire, preventDefault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exemple concret — middleware auth.js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3200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320040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Résultats des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29260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9344"/>
            <a:ext cx="54864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6093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userController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60934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084832"/>
            <a:ext cx="54864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0848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cartController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08483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560320"/>
            <a:ext cx="29260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60320"/>
            <a:ext cx="54864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5603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56032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035808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035808"/>
            <a:ext cx="54864" cy="4023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0358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(React)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03580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511296"/>
            <a:ext cx="29260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11296"/>
            <a:ext cx="54864" cy="4023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35112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CartTotal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351129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986784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986784"/>
            <a:ext cx="54864" cy="4023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9867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NewsletterBox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51760" y="398678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480560"/>
            <a:ext cx="2926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480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tests — 18 passed 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49040" y="1170432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49040" y="1170432"/>
            <a:ext cx="5120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0" y="1216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auth.test.js — 3 cas testés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58768" y="159105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 1 : aucun token → accès refusé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58768" y="18288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it('refuse si aucun token', async () =&gt; {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58768" y="206654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req = { headers: {}, body: {} 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23042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authUser(req, res, mockNext)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58768" y="254203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expect(res.json).toHaveBeenCalledWith(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58768" y="277977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success: false, message: '...' })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58768" y="30175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expect(mockNext).not.toHaveBeenCalled()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58768" y="325526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58768" y="34930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58768" y="373075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 2 : token valide → accès autorisé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58768" y="396849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it('injecte userId si token valide', async () =&gt; {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58768" y="420624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jwt.verify.mockReturnValue({ id: 'user123' })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58768" y="444398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authUser(req, res, mockNext)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858768" y="468172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expect(req.body.userId).toBe('user123')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58768" y="491947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expect(mockNext).toHaveBeenCalled()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858768" y="51572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RGPD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et axes d'amélioration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RGPD encadre la collecte et l'utilisation des données personnelles. En tant que boutique e-commerce, Forever collecte des données sensibles qu'il faut protéger.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4114800" cy="347472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5544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1554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Déjà en place dans Forever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 (bcrypt) — jamais en clair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sensibles dans variables d'environnement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par JWT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2935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RGPD présent dans le footer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11480" y="3264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via Stripe (certifié PCI-DSS)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15087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508760"/>
            <a:ext cx="4114800" cy="34747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55448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38928" y="1554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À améliorer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de consentement cookies (obligatoire)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92040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Politique de confidentialité complète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92040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l'oubli — route DELETE /api/user/:id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92040" y="2935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d'accès — export des données utilisateur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892040" y="3264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conservation des données à définir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74320" y="3840480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86200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1792" y="38862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collectées par Forever et leur usage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4224528"/>
            <a:ext cx="2084832" cy="62179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65760" y="4242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Email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365760" y="44988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2560320" y="4224528"/>
            <a:ext cx="2084832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560320" y="4242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(hashé)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2560320" y="44988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754880" y="4224528"/>
            <a:ext cx="2084832" cy="62179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54880" y="4242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livraison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4754880" y="44988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commandes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6949440" y="4224528"/>
            <a:ext cx="2084832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949440" y="4242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commandes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949440" y="44988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après-vente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 par le candidat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103120"/>
            <a:ext cx="7680960" cy="1463040"/>
          </a:xfrm>
          <a:prstGeom prst="rect">
            <a:avLst/>
          </a:prstGeom>
          <a:solidFill>
            <a:srgbClr val="1A2F55"/>
          </a:solidFill>
          <a:ln w="12700">
            <a:solidFill>
              <a:srgbClr val="2E75B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Votre texte de conclusion ici 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30752"/>
            <a:ext cx="1920240" cy="1115568"/>
          </a:xfrm>
          <a:prstGeom prst="rect">
            <a:avLst/>
          </a:prstGeom>
          <a:solidFill>
            <a:srgbClr val="253D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3730752"/>
            <a:ext cx="1920240" cy="1115568"/>
          </a:xfrm>
          <a:prstGeom prst="rect">
            <a:avLst/>
          </a:prstGeom>
          <a:solidFill>
            <a:srgbClr val="253D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730752"/>
            <a:ext cx="1920240" cy="1115568"/>
          </a:xfrm>
          <a:prstGeom prst="rect">
            <a:avLst/>
          </a:prstGeom>
          <a:solidFill>
            <a:srgbClr val="253D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5488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passés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730752"/>
            <a:ext cx="1920240" cy="1115568"/>
          </a:xfrm>
          <a:prstGeom prst="rect">
            <a:avLst/>
          </a:prstGeom>
          <a:solidFill>
            <a:srgbClr val="253D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 •  github.com/yapsbjj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6068</TotalTime>
  <Words>2976</Words>
  <Application>Microsoft Office PowerPoint</Application>
  <PresentationFormat>Affichage à l'écran (16:9)</PresentationFormat>
  <Paragraphs>515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Projet — Forever</dc:title>
  <dc:subject>PptxGenJS Presentation</dc:subject>
  <dc:creator>Yassine RAMDANE</dc:creator>
  <cp:lastModifiedBy>Utilisateur</cp:lastModifiedBy>
  <cp:revision>6</cp:revision>
  <dcterms:created xsi:type="dcterms:W3CDTF">2026-05-22T08:45:05Z</dcterms:created>
  <dcterms:modified xsi:type="dcterms:W3CDTF">2026-06-09T12:47:37Z</dcterms:modified>
</cp:coreProperties>
</file>