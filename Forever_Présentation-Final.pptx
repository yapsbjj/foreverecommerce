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07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53D6E"/>
          </a:solidFill>
          <a:ln w="12700">
            <a:solidFill>
              <a:srgbClr val="25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253D6E"/>
          </a:solidFill>
          <a:ln w="12700">
            <a:solidFill>
              <a:srgbClr val="253D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E-Commerce Full-Stack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246888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46888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246888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65A30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468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8046720" cy="18288"/>
          </a:xfrm>
          <a:prstGeom prst="rect">
            <a:avLst/>
          </a:prstGeom>
          <a:solidFill>
            <a:srgbClr val="3D5A9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Professionnel — Développeur Web et Web Mobile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Yassine RAMDANE  •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344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6583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344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8992" y="12344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personnelle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57400"/>
            <a:ext cx="73152" cy="6583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0574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78992" y="20574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Forever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80360"/>
            <a:ext cx="73152" cy="6583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8803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78992" y="28803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la stack MERN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703320"/>
            <a:ext cx="73152" cy="6583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7033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78992" y="37033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Versionning — Git &amp; GitHub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2344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234440"/>
            <a:ext cx="73152" cy="6583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5010912" y="12344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59552" y="12344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de la base de données (MERISE)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0574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057400"/>
            <a:ext cx="73152" cy="6583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5010912" y="20574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59552" y="20574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rouge — Du panier au paiement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28803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880360"/>
            <a:ext cx="73152" cy="65836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28803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59552" y="28803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rouge — Authentification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Présentation personnelle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section sera complétée par le candidat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8412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34440"/>
            <a:ext cx="8412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Le Projet Forever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5303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1371600"/>
          </a:xfrm>
          <a:prstGeom prst="rect">
            <a:avLst/>
          </a:prstGeom>
          <a:solidFill>
            <a:srgbClr val="E8500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est une boutique de vêtements qui a besoin d'un site e-commerce pour développer ses ventes en ligne et toucher une clientèle plus large.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5303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788920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529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182112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d'une application web complète : boutique en ligne, espace client et panel d'administration, le tout connecté à une API REST sécurisée.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23444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234440"/>
            <a:ext cx="73152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Client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2404872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2404872"/>
            <a:ext cx="73152" cy="1005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Backend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770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3575304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3575304"/>
            <a:ext cx="73152" cy="1005840"/>
          </a:xfrm>
          <a:prstGeom prst="rect">
            <a:avLst/>
          </a:prstGeom>
          <a:solidFill>
            <a:srgbClr val="E8500A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36393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39410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Choix de la Stack MERN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choix technologique 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4206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2704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3624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70432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orientée documents, parfaite pour les données e-commerce variables (produits, commandes). Hébergée sur Atlas.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2990088"/>
            <a:ext cx="4206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82696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0432" y="3118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170432" y="3447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backend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38587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 et flexible pour construire une API REST structurée. Gestion claire des routes et des middlewares.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46320" y="1234440"/>
            <a:ext cx="4206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52704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50992" y="13624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650992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029200" y="210312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dynamique et réactive. Context API pour l'état global (panier, auth). Composants réutilisables.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846320" y="2990088"/>
            <a:ext cx="4206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282696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50992" y="3118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650992" y="3447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runtime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029200" y="38587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côté serveur. Cohérence du langage sur toute la stack. Modèle asynchrone adapté au web.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Versionning avec Git &amp; GitHub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code source et collaboration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Contrôle de version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0848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l'historique de chaque modification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261518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en arrière possible à tout moment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31455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pour développer sans risque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utilisées : git init, git add, git commit, git push, git pull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54880" y="12344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1732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500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Hébergement distant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37760" y="20848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dépôts séparés : Backend, Frontend, Admin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937760" y="261518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sauvegardé et accessible depuis partout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937760" y="31455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des commits visible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93776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des repos : github.com/yapsbjj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65760" y="461772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F3864"/>
          </a:solidFill>
          <a:ln/>
        </p:spPr>
      </p:sp>
      <p:sp>
        <p:nvSpPr>
          <p:cNvPr id="21" name="Text 17"/>
          <p:cNvSpPr/>
          <p:nvPr/>
        </p:nvSpPr>
        <p:spPr>
          <a:xfrm>
            <a:off x="365760" y="4617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286000" y="46177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2514600" y="461772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F3864"/>
          </a:solidFill>
          <a:ln/>
        </p:spPr>
      </p:sp>
      <p:sp>
        <p:nvSpPr>
          <p:cNvPr id="24" name="Text 20"/>
          <p:cNvSpPr/>
          <p:nvPr/>
        </p:nvSpPr>
        <p:spPr>
          <a:xfrm>
            <a:off x="2514600" y="4617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434840" y="46177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4663440" y="461772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F3864"/>
          </a:solidFill>
          <a:ln/>
        </p:spPr>
      </p:sp>
      <p:sp>
        <p:nvSpPr>
          <p:cNvPr id="27" name="Text 23"/>
          <p:cNvSpPr/>
          <p:nvPr/>
        </p:nvSpPr>
        <p:spPr>
          <a:xfrm>
            <a:off x="4663440" y="4617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"..."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583680" y="461772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5B6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812280" y="461772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F3864"/>
          </a:solidFill>
          <a:ln/>
        </p:spPr>
      </p:sp>
      <p:sp>
        <p:nvSpPr>
          <p:cNvPr id="30" name="Text 26"/>
          <p:cNvSpPr/>
          <p:nvPr/>
        </p:nvSpPr>
        <p:spPr>
          <a:xfrm>
            <a:off x="6812280" y="4617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Conception BDD — Modèle Conceptuel (MCD)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MERISE — Entités et relations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21945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2194560" cy="38404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_id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9110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3865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(hash)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624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cartData {}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0" y="1234440"/>
            <a:ext cx="2194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1234440"/>
            <a:ext cx="2194560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234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_id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66160" y="19110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6616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0" y="23865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66160" y="2624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[]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66160" y="2862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66160" y="30998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66160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[]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66160" y="35753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bestseller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75120" y="1234440"/>
            <a:ext cx="2194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0" y="1234440"/>
            <a:ext cx="2194560" cy="384048"/>
          </a:xfrm>
          <a:prstGeom prst="rect">
            <a:avLst/>
          </a:prstGeom>
          <a:solidFill>
            <a:srgbClr val="E8500A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1234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_id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66560" y="19110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(FK)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6656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[]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66560" y="23865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66560" y="2624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 {}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66560" y="2862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66560" y="30998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66560" y="3337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(bool)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66560" y="35753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468880" y="2240280"/>
            <a:ext cx="5029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2084832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D6E4F7"/>
          </a:solidFill>
          <a:ln/>
        </p:spPr>
      </p:sp>
      <p:sp>
        <p:nvSpPr>
          <p:cNvPr id="40" name="Text 38"/>
          <p:cNvSpPr/>
          <p:nvPr/>
        </p:nvSpPr>
        <p:spPr>
          <a:xfrm>
            <a:off x="2971800" y="20848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0" y="2240280"/>
            <a:ext cx="5029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2084832"/>
            <a:ext cx="502920" cy="320040"/>
          </a:xfrm>
          <a:prstGeom prst="roundRect">
            <a:avLst>
              <a:gd name="adj" fmla="val 11429"/>
            </a:avLst>
          </a:prstGeom>
          <a:solidFill>
            <a:srgbClr val="D6E4F7"/>
          </a:solidFill>
          <a:ln/>
        </p:spPr>
      </p:sp>
      <p:sp>
        <p:nvSpPr>
          <p:cNvPr id="43" name="Text 41"/>
          <p:cNvSpPr/>
          <p:nvPr/>
        </p:nvSpPr>
        <p:spPr>
          <a:xfrm>
            <a:off x="6172200" y="20848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468880" y="2011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834640" y="2011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69280" y="2011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26480" y="2011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Clé primaire    FK Clé étrangère    [] Tableau    {} Objet imbriqué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Conception BDD — Modèle Physique (MPD)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MongoDB — Structure réelle en base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283464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"_id": ObjectId,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String,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450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String,  // unique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8437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"password": String,  // bcrypt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2369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"cartData": { "prodId": { "taille": qty } 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6301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73552" y="123444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73552" y="1234440"/>
            <a:ext cx="2834640" cy="3474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3273552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products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64992" y="16642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"_id": ObjectId,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64992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String,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64992" y="2450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"price": Number,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64992" y="28437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"image": [ url1, url2, ... ],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64992" y="32369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"category": String,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64992" y="36301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"sizes": [ "S", "M", "L" ],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64992" y="40233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"bestseller": Boolean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64992" y="44165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72784" y="123444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72784" y="1234440"/>
            <a:ext cx="2834640" cy="347472"/>
          </a:xfrm>
          <a:prstGeom prst="rect">
            <a:avLst/>
          </a:prstGeom>
          <a:solidFill>
            <a:srgbClr val="E8500A"/>
          </a:solidFill>
          <a:ln/>
        </p:spPr>
      </p:sp>
      <p:sp>
        <p:nvSpPr>
          <p:cNvPr id="28" name="Text 26"/>
          <p:cNvSpPr/>
          <p:nvPr/>
        </p:nvSpPr>
        <p:spPr>
          <a:xfrm>
            <a:off x="6272784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orders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64224" y="16642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"_id": ObjectId,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64224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String,  // ref User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64224" y="2450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"items": [ { produit, size, qty } ],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64224" y="28437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"amount": Number,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64224" y="32369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"adress": { prenom, rue, ville... },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64224" y="36301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"paymentMethod": "Stripe" | "COD",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64224" y="40233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"payment": Boolean,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64224" y="44165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String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64224" y="48097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: foreverDB  •  Hébergement : MongoDB Atlas  •  ODM : Mongoose v9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 rouge : Du panier au paiement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Zoning de l'interface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zoning définit les grandes zones fonctionnelles de chaque page avant de commencer le design.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283464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Catalogue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74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(logo + nav + search + cart)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2560320" cy="475488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68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(catégorie, sous-cat, tri)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63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PRODUITS (2 à 5 col.)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65760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57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73552" y="14173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73552" y="1417320"/>
            <a:ext cx="283464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273552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Produit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187452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1874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10712" y="246888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2468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GALERIE IMAGES (gauche)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10712" y="306324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3063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 PRODUIT (droite : nom, prix, tailles, bouton)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10712" y="365760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657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SIMILAIRES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10712" y="425196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0712" y="4251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72784" y="14173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72784" y="1417320"/>
            <a:ext cx="283464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3" name="Text 31"/>
          <p:cNvSpPr/>
          <p:nvPr/>
        </p:nvSpPr>
        <p:spPr>
          <a:xfrm>
            <a:off x="6272784" y="1417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Panier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9944" y="187452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1874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9944" y="246888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2468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ARTICLES (image, nom, taille, qté, prix)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9944" y="3063240"/>
            <a:ext cx="2560320" cy="475488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9944" y="3063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TOTAL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9944" y="365760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9944" y="3657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PAIEMENT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9944" y="4251960"/>
            <a:ext cx="25603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9944" y="4251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 rouge : Du panier au paiement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Wireframe de la page Panier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47548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754880" cy="2926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Panier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938528"/>
            <a:ext cx="44805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84248"/>
            <a:ext cx="502920" cy="5669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8424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[img]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" y="2011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produit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• Taille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2057400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057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Qté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0" y="2057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743200"/>
            <a:ext cx="44805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346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Sous-total : 50.00€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port : 10.00€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60.00€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133088"/>
            <a:ext cx="4480560" cy="4114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1330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PROCÉDER AU PAIEMENT 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38928" y="1554480"/>
            <a:ext cx="182880" cy="0"/>
          </a:xfrm>
          <a:prstGeom prst="line">
            <a:avLst/>
          </a:prstGeom>
          <a:noFill/>
          <a:ln w="19050">
            <a:solidFill>
              <a:srgbClr val="E85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updateQuantity()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temps réel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38928" y="2423160"/>
            <a:ext cx="182880" cy="0"/>
          </a:xfrm>
          <a:prstGeom prst="line">
            <a:avLst/>
          </a:prstGeom>
          <a:noFill/>
          <a:ln w="19050">
            <a:solidFill>
              <a:srgbClr val="E85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getCartAmount()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delivery_fee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38928" y="3429000"/>
            <a:ext cx="182880" cy="0"/>
          </a:xfrm>
          <a:prstGeom prst="line">
            <a:avLst/>
          </a:prstGeom>
          <a:noFill/>
          <a:ln w="19050">
            <a:solidFill>
              <a:srgbClr val="E85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navigate('/place-order')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 rouge : Du panier au paiement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Code Frontend (React)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52728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234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ShopContext.jsx — Gestion du panier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Structure : { itemId: { size: qty } }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" y="20482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addToCart = async (itemId, size) =&gt; {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24323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cartData = structuredClone(cartItems)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2816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cartData[itemId][size] += 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5760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setCartItems(cartData)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axios.post('/api/cart/add',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" y="39684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{itemId, size}, {headers:{token}})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43525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PlaceOrder.jsx — Validation commande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54880" y="1664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Stripe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54880" y="20482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 = await axios.post(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54880" y="24323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'/api/order/stripe',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754880" y="2816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adress, items, amount },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54880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headers: { token } }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754880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754880" y="39684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window.location.replace(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754880" y="43525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res.data.session_url)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 rouge : Du panier au paiement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Code Backend (Express + Stripe)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88720"/>
            <a:ext cx="1554480" cy="685800"/>
          </a:xfrm>
          <a:prstGeom prst="rect">
            <a:avLst/>
          </a:prstGeom>
          <a:solidFill>
            <a:srgbClr val="2E75B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/api/order/stripe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83080" y="13533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93392" y="1188720"/>
            <a:ext cx="1554480" cy="685800"/>
          </a:xfrm>
          <a:prstGeom prst="rect">
            <a:avLst/>
          </a:prstGeom>
          <a:solidFill>
            <a:srgbClr val="64748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authUser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93392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JWT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47872" y="13533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58184" y="1188720"/>
            <a:ext cx="1554480" cy="685800"/>
          </a:xfrm>
          <a:prstGeom prst="rect">
            <a:avLst/>
          </a:prstGeom>
          <a:solidFill>
            <a:srgbClr val="1F3864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58184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placeOrderStripe()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58184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commande en BDD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12664" y="13533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22976" y="1188720"/>
            <a:ext cx="1554480" cy="685800"/>
          </a:xfrm>
          <a:prstGeom prst="rect">
            <a:avLst/>
          </a:prstGeom>
          <a:solidFill>
            <a:srgbClr val="635B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22976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API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22976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Checkout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77456" y="13533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87768" y="1188720"/>
            <a:ext cx="1554480" cy="685800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87768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verifyStripe()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87768" y="1536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paiement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057400"/>
            <a:ext cx="8595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057400"/>
            <a:ext cx="8595360" cy="347472"/>
          </a:xfrm>
          <a:prstGeom prst="rect">
            <a:avLst/>
          </a:prstGeom>
          <a:solidFill>
            <a:srgbClr val="1F3864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03120"/>
            <a:ext cx="228600" cy="228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40080" y="2103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orderControler.js — placeOrderStripe() &amp; verifyStripe()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2487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session = await stripe.checkout.sessions.create({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57200" y="28072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success_url: `${origin}/verify?success=true&amp;orderId=${newOrder._id}`,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57200" y="3127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cancel_url:  `${origin}/verify?success=false&amp;orderId=${newOrder._id}`,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57200" y="3447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line_items, mode: 'payment'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57200" y="37673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57200" y="4087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verifyStripe : si success === 'true' → payment:true + vider panier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57200" y="44074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sinon → supprimer la commande en base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Fil rouge : Du panier au paiement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 — Optimisation SEO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SEO permet à la boutique Forever d'être visible sur Google. Voici les optimisations appliquées au projet.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411480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463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— SPA React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892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Toutes les pages partagent le même &lt;title&gt;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185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Contenu rendu côté client (JavaScript)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4780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peut avoir du mal à tout indexer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63040"/>
            <a:ext cx="411480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463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 — react-helmet-async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892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Titre dynamique unique par page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2185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Balises meta description personnalisées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4780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Balises Open Graph pour les réseaux sociaux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99232"/>
            <a:ext cx="5029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99232"/>
            <a:ext cx="5029200" cy="320040"/>
          </a:xfrm>
          <a:prstGeom prst="rect">
            <a:avLst/>
          </a:prstGeom>
          <a:solidFill>
            <a:srgbClr val="1F3864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44952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94360" y="3044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Balises méta ajoutées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11480" y="34015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name="description" content="Forever..." /&gt;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11480" y="36941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property="og:title" content="Forever" /&gt;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1480" y="39867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property="og:image" content="/og-image.jpg" /&gt;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11480" y="42793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name="robots" content="index, follow" /&gt;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11480" y="4572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rel="canonical" href="https://forever.com" /&gt;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577840" y="2999232"/>
            <a:ext cx="3291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577840" y="2999232"/>
            <a:ext cx="3291840" cy="32004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044952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897880" y="3044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lisibles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623560" y="3401568"/>
            <a:ext cx="32004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650992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7406640" y="3401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623560" y="3694176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650992" y="3694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/collection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406640" y="3694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5623560" y="3986784"/>
            <a:ext cx="32004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650992" y="39867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/product/:id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7406640" y="3986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5623560" y="4279392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650992" y="4279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/about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7406640" y="4279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5623560" y="4572000"/>
            <a:ext cx="320040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650992" y="4572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/contact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7406640" y="4572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Fil rouge : Authentification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Zoning de la page Login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page de connexion/inscription est un composant unique qui bascule entre deux modes selon l'action de l'utilisateur.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384048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: Connexion (Login)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901952"/>
            <a:ext cx="3474720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0195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+ LIGNE DÉCORATIVE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3474720" cy="402336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7744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EMAIL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852928"/>
            <a:ext cx="3474720" cy="402336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5292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MOT DE PASSE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34747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2841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: Mot de passe oublié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803904"/>
            <a:ext cx="34747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0390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: Créer un compte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34747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7939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: Se connecter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46304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: Inscription (Sign up)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1901952"/>
            <a:ext cx="3474720" cy="40233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90195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+ LIGNE DÉCORATIVE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2377440"/>
            <a:ext cx="3474720" cy="402336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37744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NOM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2852928"/>
            <a:ext cx="3474720" cy="402336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85292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EMAIL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3328416"/>
            <a:ext cx="3474720" cy="402336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32841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MOT DE PASSE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3803904"/>
            <a:ext cx="34747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80390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: Se connecter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4279392"/>
            <a:ext cx="347472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427939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: S'inscrire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Fil rouge : Authentification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Wireframe de la page Login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170432"/>
            <a:ext cx="3657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4447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1810512"/>
            <a:ext cx="822960" cy="3657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975104"/>
            <a:ext cx="32918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9751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80160" y="2633472"/>
            <a:ext cx="32918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6334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33467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oublié 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17520" y="33467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0" y="3749040"/>
            <a:ext cx="2194560" cy="43891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37490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4370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Bascule via setCurrentState()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73168" y="1673352"/>
            <a:ext cx="274320" cy="0"/>
          </a:xfrm>
          <a:prstGeom prst="line">
            <a:avLst/>
          </a:prstGeom>
          <a:noFill/>
          <a:ln w="19050">
            <a:solidFill>
              <a:srgbClr val="E85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useState() pour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champ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73168" y="2615184"/>
            <a:ext cx="274320" cy="0"/>
          </a:xfrm>
          <a:prstGeom prst="line">
            <a:avLst/>
          </a:prstGeom>
          <a:noFill/>
          <a:ln w="19050">
            <a:solidFill>
              <a:srgbClr val="E85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4505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event.preventDefault()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onSubmitHandler()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73168" y="3291840"/>
            <a:ext cx="274320" cy="0"/>
          </a:xfrm>
          <a:prstGeom prst="line">
            <a:avLst/>
          </a:prstGeom>
          <a:noFill/>
          <a:ln w="19050">
            <a:solidFill>
              <a:srgbClr val="E85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31272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→ localStorage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E8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navigate('/')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Fil rouge : Authentification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Code Frontend (Login.jsx)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70432"/>
            <a:ext cx="8595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8595360" cy="365760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2252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2161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Login.jsx — Connexion &amp; Inscription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16184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[currentState, setCurrentState] = useState('Login') // 'Login' ou 'Sign up'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18562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209397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onSubmitHandler = async (event) =&gt; {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1480" y="23317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event.preventDefault()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11480" y="256946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(currentState === 'Sign up') {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11480" y="28072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axios.post(backendUrl + '/api/user/register', {name, email, password})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11480" y="304495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(res.data.success) {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1480" y="328269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setToken(res.data.token)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35204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localStorage.setItem('token', res.data.token)  // Persistance session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11480" y="375818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11480" y="3995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11480" y="423367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axios.post(backendUrl + '/api/user/login', {email, password})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11480" y="447141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(res.data.success) { setToken(res.data.token) }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11480" y="470916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11480" y="494690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Fil rouge : Authentification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Code Backend (userController + middleware)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70432"/>
            <a:ext cx="1554480" cy="658368"/>
          </a:xfrm>
          <a:prstGeom prst="rect">
            <a:avLst/>
          </a:prstGeom>
          <a:solidFill>
            <a:srgbClr val="2E75B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1704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/login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83080" y="1325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93392" y="1170432"/>
            <a:ext cx="1554480" cy="658368"/>
          </a:xfrm>
          <a:prstGeom prst="rect">
            <a:avLst/>
          </a:prstGeom>
          <a:solidFill>
            <a:srgbClr val="64748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1704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mdp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47872" y="1325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58184" y="1170432"/>
            <a:ext cx="1554480" cy="658368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58184" y="11704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bcrypt.hash()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compare()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12664" y="1325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22976" y="1170432"/>
            <a:ext cx="1554480" cy="658368"/>
          </a:xfrm>
          <a:prstGeom prst="rect">
            <a:avLst/>
          </a:prstGeom>
          <a:solidFill>
            <a:srgbClr val="1F3864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22976" y="11704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jwt.sign()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généré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77456" y="1325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3864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87768" y="1170432"/>
            <a:ext cx="1554480" cy="658368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87768" y="11704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success: true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'...' }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99339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1993392"/>
            <a:ext cx="4114800" cy="32918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19933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userController.js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2404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Inscription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2679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salt = await bcrypt.genSalt(10)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953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hashed = await bcrypt.hash(password, salt)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227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new userModel({name,email,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hashed })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user.save()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4050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token = jwt.sign({id}, JWT_SECRET)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4325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res.json({ success: true, token })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993392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993392"/>
            <a:ext cx="4114800" cy="3291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19933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auth.js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2404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Protège les routes privées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2679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token } = req.headers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2953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(!token) return res.json(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227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success: false })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decoded = jwt.verify(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token, JWT_SECRET)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4050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req.body.userId = decoded.id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0600" y="4325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next() // Accès autorisé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Fil rouge : Authentification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final — Pages Login et Sign 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Voici le rendu réel de la page d'authentification dans le navigateur, avec les deux modes accessibles depuis le même composant.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31920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3931920" cy="329184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: Login — Connexion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01952"/>
            <a:ext cx="3474720" cy="2487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54880" y="1463040"/>
            <a:ext cx="3931920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463040"/>
            <a:ext cx="3931920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14630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: Sign up — Inscription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901952"/>
            <a:ext cx="3474720" cy="276148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solidFill>
            <a:srgbClr val="D6E4F7"/>
          </a:solidFill>
          <a:ln/>
        </p:spPr>
      </p:sp>
      <p:sp>
        <p:nvSpPr>
          <p:cNvPr id="16" name="Text 12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 seul composant Login.jsx  •  Bascule via useState('Login' | 'Sign up')  •  Token JWT stocké dans localStorage  •  Redirection automatique vers '/'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Sécurité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principales menaces et comment s'en protéger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70432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38912" cy="6949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70432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2435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NoSQL / SQL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4813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 code malveillant dans les champs pour manipuler la base de données et accéder à des données non autorisées.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15968" y="1225296"/>
            <a:ext cx="27432" cy="5852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1243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Protection 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07408" y="14447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impose des types stricts (String, Number). validator.js vérifie le format. Aucune requête SQL brute — Mongoose sert d'ODM protecteur.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938528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38528"/>
            <a:ext cx="438912" cy="6949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938528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" y="20116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compromise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2494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de token, mot de passe stocké en clair ou session sans expiration permettant un accès permanent non autorisé aux comptes.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15968" y="1993392"/>
            <a:ext cx="27432" cy="5852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4407408" y="2011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Protection 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07408" y="22128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hachés avec bcrypt (salt 10 tours). JWT signé avec secret sécurisé. Middlewares auth.js et adminAuth.js séparant les droits user/admin.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706624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06624"/>
            <a:ext cx="438912" cy="6949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706624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" y="27797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de données sensibles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30175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API, credentials et secrets exposés dans le code source ou sur GitHub permettant l'accès non autorisé aux services tiers.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15968" y="2761488"/>
            <a:ext cx="27432" cy="5852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4407408" y="2779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Protection 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407408" y="29809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clés (JWT, Stripe, Cloudinary, MongoDB) stockées en variables d'environnement. Fichier .env dans .gitignore, jamais commité.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47472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474720"/>
            <a:ext cx="438912" cy="69494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3474720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4672" y="35478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DDoS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" y="37856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du serveur par un volume massif de requêtes simultanées rendant l'application indisponible pour les vrais utilisateurs.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15968" y="3529584"/>
            <a:ext cx="27432" cy="5852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4407408" y="3547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Protection 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407408" y="3749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sur Vercel (CDN mondial + protection DDoS intégrée). CORS configuré pour autoriser uniquement les origines connues. Rate limiting à implémenter.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4242816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4242816"/>
            <a:ext cx="438912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242816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04672" y="43159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" y="45537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malveillant qui chiffre les données de l'application ou de la base de données et exige une rançon pour les restituer.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15968" y="4297680"/>
            <a:ext cx="27432" cy="5852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4407408" y="4315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Protection 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407408" y="451713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sur MongoDB Atlas (sauvegardes automatiques quotidiennes, chiffrement au repos). Code source versionné sur GitHub (récupération possible à tout moment).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Sécurité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technique dans le projet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70432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114800" cy="32918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0700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1207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— Hachage des mots de passe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15727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salt = await bcrypt.genSalt(10)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19202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hashed = await bcrypt.hash(password, salt)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22677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Vérification : bcrypt.compare(mdp, hash)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1170432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170432"/>
            <a:ext cx="4114800" cy="32918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07008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02352" y="1207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Authentification stateless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92040" y="15727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Génération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892040" y="19202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jwt.sign({id}, process.env.JWT_SECRET)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892040" y="22677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Vérification middleware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892040" y="26151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jwt.verify(token, process.env.JWT_SECRET)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74320" y="2871216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2871216"/>
            <a:ext cx="4114800" cy="32918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907792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792" y="2907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— Variables d'environnement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11480" y="3255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JWT_SECRET=xxxxx  // jamais en dur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11480" y="3547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STRIPE_SECRET_KEY=sk_live_xxx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1148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MONGODB_URI=mongodb+srv://...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11480" y="4133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.gitignore → .env non commité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754880" y="2871216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754880" y="2871216"/>
            <a:ext cx="4114800" cy="329184"/>
          </a:xfrm>
          <a:prstGeom prst="rect">
            <a:avLst/>
          </a:prstGeom>
          <a:solidFill>
            <a:srgbClr val="1F3864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907792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102352" y="29077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+ Ransomware + CORS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892040" y="32552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CORS — origines autorisées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4892040" y="34930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app.use(cors())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4892040" y="3730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DDoS → Vercel CDN + protection native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892040" y="3968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Ransomware → Atlas backups auto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892040" y="4206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GitHub → code récupérable à tout moment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D6E4F7"/>
          </a:solidFill>
          <a:ln/>
        </p:spPr>
      </p:sp>
      <p:sp>
        <p:nvSpPr>
          <p:cNvPr id="39" name="Text 33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À améliorer : JWT expiresIn: '7d'  •  express-rate-limit (anti DDoS applicatif)  •  Helmet.js (headers HTTP sécurisés)  •  express-validator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Tests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et outils mis en place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Pyramide des tests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3566160"/>
            <a:ext cx="32004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3566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(base — Jest / Vitest)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944368"/>
            <a:ext cx="2468880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443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d'intégration (Supertest)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51560" y="2331720"/>
            <a:ext cx="173736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composants (Testing Library)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80160" y="1719072"/>
            <a:ext cx="128016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17190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(futur)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31920" y="1170432"/>
            <a:ext cx="4937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1170432"/>
            <a:ext cx="4937760" cy="347472"/>
          </a:xfrm>
          <a:prstGeom prst="rect">
            <a:avLst/>
          </a:prstGeom>
          <a:solidFill>
            <a:srgbClr val="1F3864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216152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315968" y="121615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Jest + Supertest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069080" y="16093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userController.test.js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069080" y="180136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 — inscription, connexion, validation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069080" y="2011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cartController.test.js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069080" y="220370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 — ajout, mise à jour, récupération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069080" y="24140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auth.test.js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069080" y="260604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 — token valide, absent, invalide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931920" y="3163824"/>
            <a:ext cx="4937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931920" y="3163824"/>
            <a:ext cx="4937760" cy="347472"/>
          </a:xfrm>
          <a:prstGeom prst="rect">
            <a:avLst/>
          </a:prstGeom>
          <a:solidFill>
            <a:srgbClr val="2E75B6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48" y="3209544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315968" y="320954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Vitest + Testing Library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069080" y="36027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Title.test.jsx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069080" y="37947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tests — affichage text1/text2, ligne déco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069080" y="4005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CartTotal.test.jsx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4069080" y="41970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 — total, frais de port, panier vide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4069080" y="4407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NewsletterBox.test.jsx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069080" y="45994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tests — formulaire, preventDefault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Tests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et exemple concret — middleware auth.js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70432"/>
            <a:ext cx="3200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320040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Résultats des tests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9344"/>
            <a:ext cx="29260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609344"/>
            <a:ext cx="54864" cy="4023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60934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userController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160934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084832"/>
            <a:ext cx="2926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084832"/>
            <a:ext cx="54864" cy="4023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08483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cartController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208483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560320"/>
            <a:ext cx="29260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560320"/>
            <a:ext cx="54864" cy="4023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5603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256032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035808"/>
            <a:ext cx="2926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035808"/>
            <a:ext cx="54864" cy="4023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30358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(React)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3035808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511296"/>
            <a:ext cx="29260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511296"/>
            <a:ext cx="54864" cy="4023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351129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CartTotal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351129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3986784"/>
            <a:ext cx="2926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986784"/>
            <a:ext cx="54864" cy="40233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39867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NewsletterBox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51760" y="398678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4480560"/>
            <a:ext cx="2926080" cy="2011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4805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tests — 18 passed 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49040" y="1170432"/>
            <a:ext cx="5120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749040" y="1170432"/>
            <a:ext cx="512064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0" y="12161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auth.test.js — 3 cas testés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58768" y="159105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Cas 1 : aucun token → accès refusé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58768" y="18288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it('refuse si aucun token', async () =&gt; {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58768" y="206654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req = { headers: {}, body: {} }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58768" y="230428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authUser(req, res, mockNext)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58768" y="254203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expect(res.json).toHaveBeenCalledWith(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858768" y="277977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success: false, message: '...' })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58768" y="30175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expect(mockNext).not.toHaveBeenCalled()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58768" y="325526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58768" y="349300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858768" y="373075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Cas 2 : token valide → accès autorisé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58768" y="396849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it('injecte userId si token valide', async () =&gt; {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58768" y="420624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jwt.verify.mockReturnValue({ id: 'user123' })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858768" y="444398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authUser(req, res, mockNext)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858768" y="468172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expect(req.body.userId).toBe('user123')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58768" y="491947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expect(mockNext).toHaveBeenCalled()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858768" y="515721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RGPD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et axes d'amélioration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RGPD encadre la collecte et l'utilisation des données personnelles. En tant que boutique e-commerce, Forever collecte des données sensibles qu'il faut protéger.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08760"/>
            <a:ext cx="4114800" cy="347472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55448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1554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Déjà en place dans Forever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1947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hachés (bcrypt) — jamais en clair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2276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sensibles dans variables d'environnement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1480" y="2606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sécurisée par JWT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1480" y="29352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RGPD présent dans le footer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11480" y="3264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via Stripe (certifié PCI-DSS)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150876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508760"/>
            <a:ext cx="4114800" cy="347472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55448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38928" y="1554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À améliorer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92040" y="19476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Bandeau de consentement cookies (obligatoire)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892040" y="2276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Politique de confidentialité complète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92040" y="2606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à l'oubli — route DELETE /api/user/:id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892040" y="29352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d'accès — export des données utilisateur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892040" y="3264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de conservation des données à définir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74320" y="3840480"/>
            <a:ext cx="8595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solidFill>
            <a:srgbClr val="1F3864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886200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1792" y="38862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collectées par Forever et leur usage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65760" y="4224528"/>
            <a:ext cx="2084832" cy="62179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65760" y="42428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Email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365760" y="449884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2560320" y="4224528"/>
            <a:ext cx="2084832" cy="62179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560320" y="42428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(hashé)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2560320" y="449884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754880" y="4224528"/>
            <a:ext cx="2084832" cy="621792"/>
          </a:xfrm>
          <a:prstGeom prst="rect">
            <a:avLst/>
          </a:prstGeom>
          <a:solidFill>
            <a:srgbClr val="D6E4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754880" y="42428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de livraison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4754880" y="449884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commandes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6949440" y="4224528"/>
            <a:ext cx="2084832" cy="621792"/>
          </a:xfrm>
          <a:prstGeom prst="rect">
            <a:avLst/>
          </a:prstGeom>
          <a:solidFill>
            <a:srgbClr val="EE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949440" y="42428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commandes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6949440" y="449884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après-vente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53D6E"/>
          </a:solidFill>
          <a:ln w="12700">
            <a:solidFill>
              <a:srgbClr val="25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2560320" cy="2560320"/>
          </a:xfrm>
          <a:prstGeom prst="ellipse">
            <a:avLst/>
          </a:prstGeom>
          <a:solidFill>
            <a:srgbClr val="253D6E"/>
          </a:solidFill>
          <a:ln w="12700">
            <a:solidFill>
              <a:srgbClr val="253D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1645920" cy="1645920"/>
          </a:xfrm>
          <a:prstGeom prst="ellipse">
            <a:avLst/>
          </a:prstGeom>
          <a:solidFill>
            <a:srgbClr val="253D6E"/>
          </a:solidFill>
          <a:ln w="12700">
            <a:solidFill>
              <a:srgbClr val="253D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Conclusion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compléter par le candidat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0" y="1920240"/>
            <a:ext cx="27432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103120"/>
            <a:ext cx="7680960" cy="1463040"/>
          </a:xfrm>
          <a:prstGeom prst="rect">
            <a:avLst/>
          </a:prstGeom>
          <a:solidFill>
            <a:srgbClr val="1A2F55"/>
          </a:solidFill>
          <a:ln w="12700">
            <a:solidFill>
              <a:srgbClr val="2E75B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Votre texte de conclusion ici 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30752"/>
            <a:ext cx="1920240" cy="1115568"/>
          </a:xfrm>
          <a:prstGeom prst="rect">
            <a:avLst/>
          </a:prstGeom>
          <a:solidFill>
            <a:srgbClr val="253D6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7673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3730752"/>
            <a:ext cx="1920240" cy="1115568"/>
          </a:xfrm>
          <a:prstGeom prst="rect">
            <a:avLst/>
          </a:prstGeom>
          <a:solidFill>
            <a:srgbClr val="253D6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37673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06040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730752"/>
            <a:ext cx="1920240" cy="1115568"/>
          </a:xfrm>
          <a:prstGeom prst="rect">
            <a:avLst/>
          </a:prstGeom>
          <a:solidFill>
            <a:srgbClr val="253D6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37673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54880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passés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3730752"/>
            <a:ext cx="1920240" cy="1115568"/>
          </a:xfrm>
          <a:prstGeom prst="rect">
            <a:avLst/>
          </a:prstGeom>
          <a:solidFill>
            <a:srgbClr val="253D6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37673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03720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  •  github.com/yapsbjj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2863</Words>
  <Application>Microsoft Office PowerPoint</Application>
  <PresentationFormat>Affichage à l'écran (16:9)</PresentationFormat>
  <Paragraphs>492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Projet — Forever</dc:title>
  <dc:subject>PptxGenJS Presentation</dc:subject>
  <dc:creator>Yassine RAMDANE</dc:creator>
  <cp:lastModifiedBy>Utilisateur</cp:lastModifiedBy>
  <cp:revision>2</cp:revision>
  <dcterms:created xsi:type="dcterms:W3CDTF">2026-05-22T08:45:05Z</dcterms:created>
  <dcterms:modified xsi:type="dcterms:W3CDTF">2026-05-26T10:05:57Z</dcterms:modified>
</cp:coreProperties>
</file>